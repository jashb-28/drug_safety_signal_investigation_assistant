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6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65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endpoints: /drug/event.json and /drug/label.json on openFDA. /esearch.fcgi and /esummary.fcgi on PubMed. Eight actions: retrieve_faers, retrieve_label, retrieve_literature, run_analysis, check_sufficiency, detect_conflicts, generate_memo, stop. Counts describe implemented components, not measured run totals.</a:t>
            </a:r>
          </a:p>
          <a:p>
            <a:endParaRPr/>
          </a:p>
          <a:p>
            <a:r>
              <a:t>Sources:</a:t>
            </a:r>
          </a:p>
          <a:p>
            <a:r>
              <a:t>https://github.com/JashB-28/Drug_safety_signal_investigation_assistant/blob/9ecd82932645e3abbbcfea9c8597c1451b54b399/src/dsi/domain/state.py</a:t>
            </a:r>
          </a:p>
          <a:p>
            <a:r>
              <a:t>https://github.com/JashB-28/Drug_safety_signal_investigation_assistant/blob/9ecd82932645e3abbbcfea9c8597c1451b54b399/src/dsi/agent/graph.py</a:t>
            </a:r>
          </a:p>
          <a:p>
            <a:r>
              <a:t>https://github.com/JashB-28/Drug_safety_signal_investigation_assistant/blob/9ecd82932645e3abbbcfea9c8597c1451b54b399/src/dsi/mcp_server/server.py</a:t>
            </a:r>
          </a:p>
          <a:p>
            <a:r>
              <a:t>https://github.com/JashB-28/Drug_safety_signal_investigation_assistant/blob/9ecd82932645e3abbbcfea9c8597c1451b54b399/src/dsi/mcp_server/openfda.py</a:t>
            </a:r>
          </a:p>
          <a:p>
            <a:r>
              <a:t>https://github.com/JashB-28/Drug_safety_signal_investigation_assistant/blob/9ecd82932645e3abbbcfea9c8597c1451b54b399/src/dsi/mcp_server/pubmed.py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Original user-supplied dsi.jpg, preserved unchanged. The flowchart is an image. Following slides provide editable diagram details. The source image omits the Stop label beside Generate memo and simplifies the validation repair: only the framing is replaced before rebuilding. Source result handling is implemented in graph.py.</a:t>
            </a:r>
          </a:p>
          <a:p>
            <a:endParaRPr/>
          </a:p>
          <a:p>
            <a:r>
              <a:t>Sources:</a:t>
            </a:r>
          </a:p>
          <a:p>
            <a:r>
              <a:t>https://github.com/JashB-28/Drug_safety_signal_investigation_assistant/blob/9ecd82932645e3abbbcfea9c8597c1451b54b399/src/dsi/agent/graph.py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Setup continues from Normalize names to the guard. Diagram uses a reading break between rows. Step limit defaults to 24. Default total-token budget is unlimited unless configured. A guard forces finalization. Invalid JSON gets one re-ask then a fixed fallback. Actions return to the guard unless they finalize. The model can finish before all sources are gathered.</a:t>
            </a:r>
          </a:p>
          <a:p>
            <a:endParaRPr/>
          </a:p>
          <a:p>
            <a:r>
              <a:t>Sources:</a:t>
            </a:r>
          </a:p>
          <a:p>
            <a:r>
              <a:t>https://github.com/JashB-28/Drug_safety_signal_investigation_assistant/blob/9ecd82932645e3abbbcfea9c8597c1451b54b399/src/dsi/agent/graph.py</a:t>
            </a:r>
          </a:p>
          <a:p>
            <a:r>
              <a:t>https://github.com/JashB-28/Drug_safety_signal_investigation_assistant/blob/9ecd82932645e3abbbcfea9c8597c1451b54b399/src/dsi/agent/decisions.py</a:t>
            </a:r>
          </a:p>
          <a:p>
            <a:r>
              <a:t>https://github.com/JashB-28/Drug_safety_signal_investigation_assistant/blob/9ecd82932645e3abbbcfea9c8597c1451b54b399/src/dsi/domain/state.py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 retries happen inside the fetch operation. Each request gets one initial attempt plus two retries. Agent-level retrieval may repeat twice more for retryable errors, if chosen. FAERS has one HTTP request per retrieval, so up to 9 attempts total. PubMed uses two endpoints, each with its own request-level retries. Cache lookup does not repeat within the HTTP retry loop. Errors are not cached. Normal outcomes return to the decision loop.</a:t>
            </a:r>
          </a:p>
          <a:p>
            <a:endParaRPr/>
          </a:p>
          <a:p>
            <a:r>
              <a:t>Sources:</a:t>
            </a:r>
          </a:p>
          <a:p>
            <a:r>
              <a:t>https://github.com/JashB-28/Drug_safety_signal_investigation_assistant/blob/9ecd82932645e3abbbcfea9c8597c1451b54b399/src/dsi/mcp_server/http_client.py</a:t>
            </a:r>
          </a:p>
          <a:p>
            <a:r>
              <a:t>https://github.com/JashB-28/Drug_safety_signal_investigation_assistant/blob/9ecd82932645e3abbbcfea9c8597c1451b54b399/src/dsi/agent/graph.py</a:t>
            </a:r>
          </a:p>
          <a:p>
            <a:r>
              <a:t>https://github.com/JashB-28/Drug_safety_signal_investigation_assistant/blob/9ecd82932645e3abbbcfea9c8597c1451b54b399/src/dsi/persistence/cache.py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three analysis/check actions are separately selectable. A run can analyze too early and fail to refresh the counts after later retrieval. The normal full memo has 14 sections; early termination can omit analysis-dependent sections. Framing uses one model call type and can fall back to fixed wording. A failed rebuilt memo is still exported with FAILED validation.</a:t>
            </a:r>
          </a:p>
          <a:p>
            <a:endParaRPr/>
          </a:p>
          <a:p>
            <a:r>
              <a:t>Sources:</a:t>
            </a:r>
          </a:p>
          <a:p>
            <a:r>
              <a:t>https://github.com/JashB-28/Drug_safety_signal_investigation_assistant/blob/9ecd82932645e3abbbcfea9c8597c1451b54b399/src/dsi/agent/graph.py</a:t>
            </a:r>
          </a:p>
          <a:p>
            <a:r>
              <a:t>https://github.com/JashB-28/Drug_safety_signal_investigation_assistant/blob/9ecd82932645e3abbbcfea9c8597c1451b54b399/src/dsi/memo/builder.py</a:t>
            </a:r>
          </a:p>
          <a:p>
            <a:r>
              <a:t>https://github.com/JashB-28/Drug_safety_signal_investigation_assistant/blob/9ecd82932645e3abbbcfea9c8597c1451b54b399/src/dsi/memo/validator.py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evaluation: 7 distinct cases. A corrected version changes the serious count from 5 to 6. The saved result reports 8 recomputed nodes and 11 reused nodes. Conflict updates are incomplete in this scenario.</a:t>
            </a:r>
          </a:p>
          <a:p>
            <a:endParaRPr/>
          </a:p>
          <a:p>
            <a:r>
              <a:t>Sources:</a:t>
            </a:r>
          </a:p>
          <a:p>
            <a:r>
              <a:t>https://github.com/JashB-28/Drug_safety_signal_investigation_assistant/blob/9ecd82932645e3abbbcfea9c8597c1451b54b399/data/outputs/eval_results.json</a:t>
            </a:r>
          </a:p>
          <a:p>
            <a:r>
              <a:t>https://github.com/JashB-28/Drug_safety_signal_investigation_assistant/blob/9ecd82932645e3abbbcfea9c8597c1451b54b399/src/dsi/scenarios/a_evidence_update.py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Saved run: baseline 1851 tokens, constrained 1042. Reduction = (1851-1042)/1851 = 43.7%. The eval quality_floor_held field checks schema/section and citation/language properties. The separate Scenario C helper has additional exact-count checks.</a:t>
            </a:r>
          </a:p>
          <a:p>
            <a:endParaRPr/>
          </a:p>
          <a:p>
            <a:r>
              <a:t>Sources:</a:t>
            </a:r>
          </a:p>
          <a:p>
            <a:r>
              <a:t>https://github.com/JashB-28/Drug_safety_signal_investigation_assistant/blob/9ecd82932645e3abbbcfea9c8597c1451b54b399/data/outputs/eval_results.json</a:t>
            </a:r>
          </a:p>
          <a:p>
            <a:r>
              <a:t>https://github.com/JashB-28/Drug_safety_signal_investigation_assistant/blob/9ecd82932645e3abbbcfea9c8597c1451b54b399/src/dsi/eval/run_eval.py</a:t>
            </a:r>
          </a:p>
          <a:p>
            <a:r>
              <a:t>https://github.com/JashB-28/Drug_safety_signal_investigation_assistant/blob/9ecd82932645e3abbbcfea9c8597c1451b54b399/src/dsi/scenarios/c_constrained.py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Saved results, not new measurements. Cold 41710.65 ms. Warm values 11193.14 and 10982.36 ms. The repository percentile implementation reports p50 10982.36 ms. Memory is sampled RSS, not a continuously observed peak.</a:t>
            </a:r>
          </a:p>
          <a:p>
            <a:endParaRPr/>
          </a:p>
          <a:p>
            <a:r>
              <a:t>Sources:</a:t>
            </a:r>
          </a:p>
          <a:p>
            <a:r>
              <a:t>https://github.com/JashB-28/Drug_safety_signal_investigation_assistant/blob/9ecd82932645e3abbbcfea9c8597c1451b54b399/data/outputs/eval_results.json</a:t>
            </a:r>
          </a:p>
          <a:p>
            <a:r>
              <a:t>https://github.com/JashB-28/Drug_safety_signal_investigation_assistant/blob/9ecd82932645e3abbbcfea9c8597c1451b54b399/src/dsi/eval/metrics.py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Implementation reference: https://github.com/JashB-28/Drug_safety_signal_investigation_assistant/blob/9ecd82932645e3abbbcfea9c8597c1451b54b399/src/dsi/agent/graph.py</a:t>
            </a:r>
          </a:p>
          <a:p>
            <a:r>
              <a:t>Repository snapshot: 9ecd82932645e3abbbcfea9c8597c1451b54b399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65E77A-7970-4826-BF2F-495287C0FF34}"/>
              </a:ext>
            </a:extLst>
          </p:cNvPr>
          <p:cNvSpPr>
            <a:spLocks noGrp="1"/>
          </p:cNvSpPr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7FB7C2"/>
                </a:solidFill>
                <a:latin typeface="Calibri"/>
                <a:ea typeface="Calibri"/>
                <a:cs typeface="Calibri"/>
              </a:rPr>
              <a:t>PHARMACOVIGILANCE · OPEN-SOURCE · AGENTIC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B1B41C-0521-491D-957B-E52E32C36CC1}"/>
              </a:ext>
            </a:extLst>
          </p:cNvPr>
          <p:cNvSpPr>
            <a:spLocks noGrp="1"/>
          </p:cNvSpPr>
          <p:nvPr/>
        </p:nvSpPr>
        <p:spPr>
          <a:xfrm>
            <a:off x="548640" y="19659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0000"/>
              </a:lnSpc>
              <a:buNone/>
            </a:pPr>
            <a:r>
              <a:rPr sz="46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Drug Safety Signal</a:t>
            </a:r>
            <a:endParaRPr sz="4600" dirty="0"/>
          </a:p>
          <a:p>
            <a:pPr marL="0" indent="0">
              <a:lnSpc>
                <a:spcPct val="100000"/>
              </a:lnSpc>
              <a:buNone/>
            </a:pPr>
            <a:r>
              <a:rPr sz="46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Investigation Assistant</a:t>
            </a:r>
            <a:endParaRPr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28A3D3-D295-442D-A0D7-1DB93C26E8CB}"/>
              </a:ext>
            </a:extLst>
          </p:cNvPr>
          <p:cNvSpPr>
            <a:spLocks noGrp="1"/>
          </p:cNvSpPr>
          <p:nvPr/>
        </p:nvSpPr>
        <p:spPr>
          <a:xfrm>
            <a:off x="548640" y="393192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>
                <a:solidFill>
                  <a:srgbClr val="CFE0E4"/>
                </a:solidFill>
                <a:latin typeface="Calibri"/>
                <a:ea typeface="Calibri"/>
                <a:cs typeface="Calibri"/>
              </a:rPr>
              <a:t>From </a:t>
            </a: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drug + suspected event + review period</a:t>
            </a:r>
            <a:r>
              <a:rPr sz="1700">
                <a:solidFill>
                  <a:srgbClr val="CFE0E4"/>
                </a:solidFill>
                <a:latin typeface="Calibri"/>
                <a:ea typeface="Calibri"/>
                <a:cs typeface="Calibri"/>
              </a:rPr>
              <a:t>  to an evidence-backed, fully-cited memo for human review.</a:t>
            </a:r>
            <a:endParaRPr sz="17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1F3794-A161-491D-98B1-7379739E4788}"/>
              </a:ext>
            </a:extLst>
          </p:cNvPr>
          <p:cNvSpPr>
            <a:spLocks noGrp="1"/>
          </p:cNvSpPr>
          <p:nvPr/>
        </p:nvSpPr>
        <p:spPr>
          <a:xfrm>
            <a:off x="548640" y="47548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7FB7C2"/>
                </a:solidFill>
                <a:latin typeface="Calibri"/>
                <a:ea typeface="Calibri"/>
                <a:cs typeface="Calibri"/>
              </a:rPr>
              <a:t>Selected pair: 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montelukast → serious neuropsychiatric events (2019–2021)</a:t>
            </a:r>
            <a:endParaRPr sz="14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341E954-07DC-48B9-A26B-B0D0F8907BAF}"/>
              </a:ext>
            </a:extLst>
          </p:cNvPr>
          <p:cNvSpPr>
            <a:spLocks noGrp="1"/>
          </p:cNvSpPr>
          <p:nvPr/>
        </p:nvSpPr>
        <p:spPr>
          <a:xfrm>
            <a:off x="548640" y="5440680"/>
            <a:ext cx="6035040" cy="640080"/>
          </a:xfrm>
          <a:prstGeom prst="roundRect">
            <a:avLst>
              <a:gd name="adj" fmla="val 14286"/>
            </a:avLst>
          </a:prstGeom>
          <a:solidFill>
            <a:srgbClr val="12384A"/>
          </a:solidFill>
          <a:ln w="12700">
            <a:solidFill>
              <a:srgbClr val="C988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CF0AE6-B524-4FCA-90F0-C802EADDB205}"/>
              </a:ext>
            </a:extLst>
          </p:cNvPr>
          <p:cNvSpPr>
            <a:spLocks noGrp="1"/>
          </p:cNvSpPr>
          <p:nvPr/>
        </p:nvSpPr>
        <p:spPr>
          <a:xfrm>
            <a:off x="731520" y="5440680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i="1" dirty="0">
                <a:solidFill>
                  <a:srgbClr val="FFE3A6"/>
                </a:solidFill>
                <a:latin typeface="Calibri"/>
                <a:ea typeface="Calibri"/>
                <a:cs typeface="Calibri"/>
              </a:rPr>
              <a:t>Advisory only</a:t>
            </a:r>
            <a:r>
              <a:rPr lang="en-US" sz="1300" i="1" dirty="0">
                <a:solidFill>
                  <a:srgbClr val="FFE3A6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300" i="1" dirty="0">
                <a:solidFill>
                  <a:srgbClr val="FFE3A6"/>
                </a:solidFill>
                <a:latin typeface="Calibri"/>
                <a:ea typeface="Calibri"/>
                <a:cs typeface="Calibri"/>
              </a:rPr>
              <a:t>never asserts causation, rates, or treatment.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799083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018BF4-036F-4C91-84C1-A37ED23B216C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THE BUSINESS PROBLEM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11A539-576D-4DD7-86EE-37E103DED79F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 dirty="0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Early signal triage is hard</a:t>
            </a:r>
            <a:r>
              <a:rPr lang="en-US" sz="3200" b="1" dirty="0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,</a:t>
            </a:r>
            <a:r>
              <a:rPr sz="3200" b="1" dirty="0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 and consequential</a:t>
            </a:r>
            <a:endParaRPr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EA3C41-CBAB-43B7-B785-34304129442A}"/>
              </a:ext>
            </a:extLst>
          </p:cNvPr>
          <p:cNvSpPr>
            <a:spLocks noGrp="1"/>
          </p:cNvSpPr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C02AE0-308C-4892-9909-2E4B71F852D1}"/>
              </a:ext>
            </a:extLst>
          </p:cNvPr>
          <p:cNvSpPr>
            <a:spLocks noGrp="1"/>
          </p:cNvSpPr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The decision the analyst is making</a:t>
            </a:r>
            <a:endParaRPr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F52030-EE6B-4CBD-86AD-25B52EABEF12}"/>
              </a:ext>
            </a:extLst>
          </p:cNvPr>
          <p:cNvSpPr>
            <a:spLocks noGrp="1"/>
          </p:cNvSpPr>
          <p:nvPr/>
        </p:nvSpPr>
        <p:spPr>
          <a:xfrm>
            <a:off x="822960" y="228600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5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Are reports of this event increasing for this drug?</a:t>
            </a:r>
            <a:endParaRPr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5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Is the event already described in the product label?</a:t>
            </a:r>
            <a:endParaRPr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5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Is the evidence strong enough to escalate to deeper human review or is it noise?</a:t>
            </a:r>
            <a:endParaRPr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D947D5-2094-45D2-94EC-78D310297CC4}"/>
              </a:ext>
            </a:extLst>
          </p:cNvPr>
          <p:cNvSpPr>
            <a:spLocks noGrp="1"/>
          </p:cNvSpPr>
          <p:nvPr/>
        </p:nvSpPr>
        <p:spPr>
          <a:xfrm>
            <a:off x="822960" y="507492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i="1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Spontaneous reports cannot establish causality or occurrence rates.</a:t>
            </a:r>
            <a:endParaRPr sz="13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0BF8FBE-2124-4F69-9238-7CE3AD1F8FE8}"/>
              </a:ext>
            </a:extLst>
          </p:cNvPr>
          <p:cNvSpPr>
            <a:spLocks noGrp="1"/>
          </p:cNvSpPr>
          <p:nvPr/>
        </p:nvSpPr>
        <p:spPr>
          <a:xfrm>
            <a:off x="6263640" y="1554480"/>
            <a:ext cx="5376672" cy="4480560"/>
          </a:xfrm>
          <a:prstGeom prst="roundRect">
            <a:avLst>
              <a:gd name="adj" fmla="val 1633"/>
            </a:avLst>
          </a:prstGeom>
          <a:solidFill>
            <a:srgbClr val="FBF3E0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1F8E88-F2D0-400C-AED9-54ED7D44CE16}"/>
              </a:ext>
            </a:extLst>
          </p:cNvPr>
          <p:cNvSpPr>
            <a:spLocks noGrp="1"/>
          </p:cNvSpPr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C9880A"/>
                </a:solidFill>
                <a:latin typeface="Calibri"/>
                <a:ea typeface="Calibri"/>
                <a:cs typeface="Calibri"/>
              </a:rPr>
              <a:t>Cost of getting it wrong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125A953-50AC-4282-A9FD-3AD20DADDD2B}"/>
              </a:ext>
            </a:extLst>
          </p:cNvPr>
          <p:cNvSpPr>
            <a:spLocks noGrp="1"/>
          </p:cNvSpPr>
          <p:nvPr/>
        </p:nvSpPr>
        <p:spPr>
          <a:xfrm>
            <a:off x="6537960" y="228600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Miss a real signal → delayed warnings; patients stay exposed (montelukast: 2008 warnings → 2020 boxed warning).</a:t>
            </a:r>
            <a:endParaRPr sz="150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Escalate noise → scarce expert time wasted; possible unwarranted alarm.</a:t>
            </a:r>
            <a:endParaRPr sz="150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Untraceable conclusion → unusable in a regulated, audited setting.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95940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7C2063-6CE4-4008-9B00-906DB6FB8954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RESEARCH &amp; FDE DISCOVERY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4A1D34-0763-4029-AB77-2F2AAEA01CC7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Why montelukast → neuropsychiatric events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E3670C4-1777-4A62-BA03-EE5CF94C727A}"/>
              </a:ext>
            </a:extLst>
          </p:cNvPr>
          <p:cNvSpPr>
            <a:spLocks noGrp="1"/>
          </p:cNvSpPr>
          <p:nvPr/>
        </p:nvSpPr>
        <p:spPr>
          <a:xfrm>
            <a:off x="548640" y="15544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D1ECEA-EE8B-4E1C-9AA3-ED80B4CB759C}"/>
              </a:ext>
            </a:extLst>
          </p:cNvPr>
          <p:cNvSpPr>
            <a:spLocks noGrp="1"/>
          </p:cNvSpPr>
          <p:nvPr/>
        </p:nvSpPr>
        <p:spPr>
          <a:xfrm>
            <a:off x="777240" y="17830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A real, dated label change</a:t>
            </a:r>
            <a:endParaRPr sz="1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936E2E-78CE-4117-8BD2-252678B0CBD9}"/>
              </a:ext>
            </a:extLst>
          </p:cNvPr>
          <p:cNvSpPr>
            <a:spLocks noGrp="1"/>
          </p:cNvSpPr>
          <p:nvPr/>
        </p:nvSpPr>
        <p:spPr>
          <a:xfrm>
            <a:off x="777240" y="2514600"/>
            <a:ext cx="3063240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FDA Boxed Warning added 2020-03-04</a:t>
            </a:r>
            <a:endParaRPr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Escalated from 2008</a:t>
            </a:r>
            <a:r>
              <a:rPr lang="en-US" sz="14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-</a:t>
            </a:r>
            <a:r>
              <a:rPr sz="14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2009 warnings</a:t>
            </a:r>
            <a:endParaRPr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Makes the 'evidence changed' scenario authentic</a:t>
            </a:r>
            <a:endParaRPr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B1364C2-24F7-4F37-8CB1-4FC40D0E269E}"/>
              </a:ext>
            </a:extLst>
          </p:cNvPr>
          <p:cNvSpPr>
            <a:spLocks noGrp="1"/>
          </p:cNvSpPr>
          <p:nvPr/>
        </p:nvSpPr>
        <p:spPr>
          <a:xfrm>
            <a:off x="4279392" y="15544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1E271A-B1F8-4D52-8CB1-6BD103DC3310}"/>
              </a:ext>
            </a:extLst>
          </p:cNvPr>
          <p:cNvSpPr>
            <a:spLocks noGrp="1"/>
          </p:cNvSpPr>
          <p:nvPr/>
        </p:nvSpPr>
        <p:spPr>
          <a:xfrm>
            <a:off x="4507992" y="17830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A genuine evidence conflict</a:t>
            </a:r>
            <a:endParaRPr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DA969BB-F8E8-4A25-91AD-0F8500E4BD06}"/>
              </a:ext>
            </a:extLst>
          </p:cNvPr>
          <p:cNvSpPr>
            <a:spLocks noGrp="1"/>
          </p:cNvSpPr>
          <p:nvPr/>
        </p:nvSpPr>
        <p:spPr>
          <a:xfrm>
            <a:off x="4507992" y="2514600"/>
            <a:ext cx="3063240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Strong FAERS spontaneous-report signal</a:t>
            </a:r>
            <a:endParaRPr sz="14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vs. a study finding no increased risk vs. inhaled steroids</a:t>
            </a:r>
            <a:endParaRPr sz="14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FDA notes most reports lack detail to judge</a:t>
            </a:r>
            <a:endParaRPr sz="1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FC7F4D0-FD31-4B67-A6D1-398E07452E0E}"/>
              </a:ext>
            </a:extLst>
          </p:cNvPr>
          <p:cNvSpPr>
            <a:spLocks noGrp="1"/>
          </p:cNvSpPr>
          <p:nvPr/>
        </p:nvSpPr>
        <p:spPr>
          <a:xfrm>
            <a:off x="8010144" y="1554480"/>
            <a:ext cx="3630168" cy="4480560"/>
          </a:xfrm>
          <a:prstGeom prst="roundRect">
            <a:avLst>
              <a:gd name="adj" fmla="val 2015"/>
            </a:avLst>
          </a:prstGeom>
          <a:solidFill>
            <a:srgbClr val="D8ECE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9DDED3-92C5-4196-A63F-49F69569F149}"/>
              </a:ext>
            </a:extLst>
          </p:cNvPr>
          <p:cNvSpPr>
            <a:spLocks noGrp="1"/>
          </p:cNvSpPr>
          <p:nvPr/>
        </p:nvSpPr>
        <p:spPr>
          <a:xfrm>
            <a:off x="8229600" y="17830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Sources (3 primary/regulatory)</a:t>
            </a:r>
            <a:endParaRPr sz="1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4C3855D-6024-4507-81E6-9E3EDA5BD74F}"/>
              </a:ext>
            </a:extLst>
          </p:cNvPr>
          <p:cNvSpPr>
            <a:spLocks noGrp="1"/>
          </p:cNvSpPr>
          <p:nvPr/>
        </p:nvSpPr>
        <p:spPr>
          <a:xfrm>
            <a:off x="8229600" y="2514600"/>
            <a:ext cx="3200400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FDA Drug Safety Communication (2020)</a:t>
            </a:r>
            <a:endParaRPr sz="14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openFDA FAERS + drug-label APIs</a:t>
            </a:r>
            <a:endParaRPr sz="14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FDA FAERS dashboard data-limitations</a:t>
            </a:r>
            <a:endParaRPr sz="14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PubMed observational literature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15570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D7601C-DDC7-4411-9F70-BF95D7D14D95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WHAT IT DOES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760473-98F8-4F71-BD19-C62F40C5DA06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One input triple → one cited, safety-checked memo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DCA32D-E1BD-4F25-A3DA-5663CEE384AD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B2A3A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B592AE-1C9F-4221-9584-108033ECC8AA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7FB7C2"/>
                </a:solidFill>
                <a:latin typeface="Calibri"/>
                <a:ea typeface="Calibri"/>
                <a:cs typeface="Calibri"/>
              </a:rPr>
              <a:t>Drug
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montelukast</a:t>
            </a:r>
            <a:endParaRPr sz="11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2814243-326A-48E4-BA79-63A32388F1FA}"/>
              </a:ext>
            </a:extLst>
          </p:cNvPr>
          <p:cNvSpPr>
            <a:spLocks noGrp="1"/>
          </p:cNvSpPr>
          <p:nvPr/>
        </p:nvSpPr>
        <p:spPr>
          <a:xfrm>
            <a:off x="2560320" y="1645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B2A3A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8F7D1D9-3292-4F7D-B071-58E02AF0E6E9}"/>
              </a:ext>
            </a:extLst>
          </p:cNvPr>
          <p:cNvSpPr>
            <a:spLocks noGrp="1"/>
          </p:cNvSpPr>
          <p:nvPr/>
        </p:nvSpPr>
        <p:spPr>
          <a:xfrm>
            <a:off x="2560320" y="16459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7FB7C2"/>
                </a:solidFill>
                <a:latin typeface="Calibri"/>
                <a:ea typeface="Calibri"/>
                <a:cs typeface="Calibri"/>
              </a:rPr>
              <a:t>Event
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depression</a:t>
            </a:r>
            <a:endParaRPr sz="11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EBF4CAE-8285-46FF-87DC-89A4A4003D16}"/>
              </a:ext>
            </a:extLst>
          </p:cNvPr>
          <p:cNvSpPr>
            <a:spLocks noGrp="1"/>
          </p:cNvSpPr>
          <p:nvPr/>
        </p:nvSpPr>
        <p:spPr>
          <a:xfrm>
            <a:off x="4572000" y="1645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B2A3A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CDA01C4-346F-497C-A733-8C982D5CE01E}"/>
              </a:ext>
            </a:extLst>
          </p:cNvPr>
          <p:cNvSpPr>
            <a:spLocks noGrp="1"/>
          </p:cNvSpPr>
          <p:nvPr/>
        </p:nvSpPr>
        <p:spPr>
          <a:xfrm>
            <a:off x="4572000" y="16459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dirty="0">
                <a:solidFill>
                  <a:srgbClr val="7FB7C2"/>
                </a:solidFill>
                <a:latin typeface="Calibri"/>
                <a:ea typeface="Calibri"/>
                <a:cs typeface="Calibri"/>
              </a:rPr>
              <a:t>Period
</a:t>
            </a:r>
            <a:r>
              <a:rPr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2019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</a:t>
            </a:r>
            <a:r>
              <a:rPr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2021</a:t>
            </a:r>
            <a:endParaRPr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401E9AB-5BEA-435A-BD36-29B113141D8A}"/>
              </a:ext>
            </a:extLst>
          </p:cNvPr>
          <p:cNvSpPr>
            <a:spLocks noGrp="1"/>
          </p:cNvSpPr>
          <p:nvPr/>
        </p:nvSpPr>
        <p:spPr>
          <a:xfrm>
            <a:off x="6446520" y="1645920"/>
            <a:ext cx="5486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800" b="1">
                <a:solidFill>
                  <a:srgbClr val="0E6E7E"/>
                </a:solidFill>
              </a:rPr>
              <a:t>→</a:t>
            </a:r>
            <a:endParaRPr sz="28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59FC043-05E2-4984-AE45-DD4D2F92C218}"/>
              </a:ext>
            </a:extLst>
          </p:cNvPr>
          <p:cNvSpPr>
            <a:spLocks noGrp="1"/>
          </p:cNvSpPr>
          <p:nvPr/>
        </p:nvSpPr>
        <p:spPr>
          <a:xfrm>
            <a:off x="7132320" y="1645920"/>
            <a:ext cx="4507992" cy="914400"/>
          </a:xfrm>
          <a:prstGeom prst="roundRect">
            <a:avLst>
              <a:gd name="adj" fmla="val 8000"/>
            </a:avLst>
          </a:prstGeom>
          <a:solidFill>
            <a:srgbClr val="0E6E7E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32C91AA-28BF-4455-A66A-0C700C334915}"/>
              </a:ext>
            </a:extLst>
          </p:cNvPr>
          <p:cNvSpPr>
            <a:spLocks noGrp="1"/>
          </p:cNvSpPr>
          <p:nvPr/>
        </p:nvSpPr>
        <p:spPr>
          <a:xfrm>
            <a:off x="7132320" y="1645920"/>
            <a:ext cx="4507992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Analyst-ready memo</a:t>
            </a:r>
            <a:endParaRPr sz="1350"/>
          </a:p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 sections in a full run, with citations and language checks</a:t>
            </a:r>
            <a:endParaRPr sz="13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2759266-9712-4B1C-BBEB-9BB78FBC2294}"/>
              </a:ext>
            </a:extLst>
          </p:cNvPr>
          <p:cNvSpPr>
            <a:spLocks noGrp="1"/>
          </p:cNvSpPr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Run it three ways</a:t>
            </a:r>
            <a:endParaRPr sz="16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BF67479-E2AB-4BD4-BB23-BD3F0D631EF6}"/>
              </a:ext>
            </a:extLst>
          </p:cNvPr>
          <p:cNvSpPr>
            <a:spLocks noGrp="1"/>
          </p:cNvSpPr>
          <p:nvPr/>
        </p:nvSpPr>
        <p:spPr>
          <a:xfrm>
            <a:off x="548640" y="342900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D4501A6-2238-48BD-9D21-5359AE45651E}"/>
              </a:ext>
            </a:extLst>
          </p:cNvPr>
          <p:cNvSpPr>
            <a:spLocks noGrp="1"/>
          </p:cNvSpPr>
          <p:nvPr/>
        </p:nvSpPr>
        <p:spPr>
          <a:xfrm>
            <a:off x="777240" y="3429000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B2A3A"/>
                </a:solidFill>
                <a:latin typeface="Courier New"/>
                <a:ea typeface="Courier New"/>
                <a:cs typeface="Courier New"/>
              </a:rPr>
              <a:t>dsi investigate</a:t>
            </a:r>
            <a:endParaRPr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72ADD7-ADD8-4DFC-AD83-65F9187257BF}"/>
              </a:ext>
            </a:extLst>
          </p:cNvPr>
          <p:cNvSpPr>
            <a:spLocks noGrp="1"/>
          </p:cNvSpPr>
          <p:nvPr/>
        </p:nvSpPr>
        <p:spPr>
          <a:xfrm>
            <a:off x="3703320" y="342900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any pair, LIVE openFDA/PubMed (no key); caches so re-runs are offline</a:t>
            </a:r>
            <a:endParaRPr sz="13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18776CC-E9DB-42B8-AF6F-E7757A160D35}"/>
              </a:ext>
            </a:extLst>
          </p:cNvPr>
          <p:cNvSpPr>
            <a:spLocks noGrp="1"/>
          </p:cNvSpPr>
          <p:nvPr/>
        </p:nvSpPr>
        <p:spPr>
          <a:xfrm>
            <a:off x="548640" y="429768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4B03C61-4A3F-4E6F-9703-9F640C4019D1}"/>
              </a:ext>
            </a:extLst>
          </p:cNvPr>
          <p:cNvSpPr>
            <a:spLocks noGrp="1"/>
          </p:cNvSpPr>
          <p:nvPr/>
        </p:nvSpPr>
        <p:spPr>
          <a:xfrm>
            <a:off x="777240" y="4297680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B2A3A"/>
                </a:solidFill>
                <a:latin typeface="Courier New"/>
                <a:ea typeface="Courier New"/>
                <a:cs typeface="Courier New"/>
              </a:rPr>
              <a:t>dsi eval</a:t>
            </a:r>
            <a:endParaRPr sz="15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A34B83C-03FA-419E-90CA-0268BFDAE824}"/>
              </a:ext>
            </a:extLst>
          </p:cNvPr>
          <p:cNvSpPr>
            <a:spLocks noGrp="1"/>
          </p:cNvSpPr>
          <p:nvPr/>
        </p:nvSpPr>
        <p:spPr>
          <a:xfrm>
            <a:off x="3703320" y="429768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reproducible offline run from a pinned snapshot; writes metrics</a:t>
            </a:r>
            <a:endParaRPr sz="13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EF65860-731C-41FB-9BC7-C80FBE26676F}"/>
              </a:ext>
            </a:extLst>
          </p:cNvPr>
          <p:cNvSpPr>
            <a:spLocks noGrp="1"/>
          </p:cNvSpPr>
          <p:nvPr/>
        </p:nvSpPr>
        <p:spPr>
          <a:xfrm>
            <a:off x="548640" y="516636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D459B00-8B33-4AF3-B49A-9F13147EF5E8}"/>
              </a:ext>
            </a:extLst>
          </p:cNvPr>
          <p:cNvSpPr>
            <a:spLocks noGrp="1"/>
          </p:cNvSpPr>
          <p:nvPr/>
        </p:nvSpPr>
        <p:spPr>
          <a:xfrm>
            <a:off x="777240" y="5166360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B2A3A"/>
                </a:solidFill>
                <a:latin typeface="Courier New"/>
                <a:ea typeface="Courier New"/>
                <a:cs typeface="Courier New"/>
              </a:rPr>
              <a:t>dsi scenarios</a:t>
            </a:r>
            <a:endParaRPr sz="15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24F4451-A8BD-45A7-BE5B-80935B3FABF9}"/>
              </a:ext>
            </a:extLst>
          </p:cNvPr>
          <p:cNvSpPr>
            <a:spLocks noGrp="1"/>
          </p:cNvSpPr>
          <p:nvPr/>
        </p:nvSpPr>
        <p:spPr>
          <a:xfrm>
            <a:off x="3703320" y="516636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evidence-update and conflict demos. The constrained comparison runs in dsi eval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13571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8B4307-FE82-4A1A-830F-87EB6F1D66F8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871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200" b="1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PROJECT AT A GLANCE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723029-E33A-4B6A-90DF-B5695E46A0BB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8710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200" b="1">
                <a:solidFill>
                  <a:srgbClr val="202C33"/>
                </a:solidFill>
                <a:latin typeface="Cambria"/>
                <a:ea typeface="Cambria"/>
                <a:cs typeface="Cambria"/>
              </a:defRPr>
            </a:pPr>
            <a:r>
              <a:rPr sz="3200" b="1" dirty="0">
                <a:solidFill>
                  <a:srgbClr val="202C33"/>
                </a:solidFill>
                <a:latin typeface="Cambria"/>
                <a:ea typeface="Cambria"/>
                <a:cs typeface="Cambria"/>
              </a:rPr>
              <a:t>The stats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552450" y="1543050"/>
          <a:ext cx="11087100" cy="40005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Thing</a:t>
                      </a:r>
                    </a:p>
                  </a:txBody>
                  <a:tcPr anchor="ctr">
                    <a:solidFill>
                      <a:srgbClr val="0C2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Count</a:t>
                      </a:r>
                    </a:p>
                  </a:txBody>
                  <a:tcPr anchor="ctr">
                    <a:solidFill>
                      <a:srgbClr val="0C2C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they are</a:t>
                      </a:r>
                    </a:p>
                  </a:txBody>
                  <a:tcPr anchor="ctr">
                    <a:solidFill>
                      <a:srgbClr val="0C2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AI agents</a:t>
                      </a:r>
                    </a:p>
                  </a:txBody>
                  <a:tcPr anchor="ctr"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Single investigation agent running the decide loop</a:t>
                      </a:r>
                    </a:p>
                  </a:txBody>
                  <a:tcPr anchor="ctr">
                    <a:solidFill>
                      <a:srgbClr val="ED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LLM call 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decide_next_action + generate_framing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Tools the agent can access</a:t>
                      </a:r>
                    </a:p>
                  </a:txBody>
                  <a:tcPr anchor="ctr"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faers_search, label_fetch, literature_search</a:t>
                      </a:r>
                    </a:p>
                  </a:txBody>
                  <a:tcPr anchor="ctr">
                    <a:solidFill>
                      <a:srgbClr val="ED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MCP servers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dsi-evidence-tools (FastMCP)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External API endpoints</a:t>
                      </a:r>
                    </a:p>
                  </a:txBody>
                  <a:tcPr anchor="ctr"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Across 2 services: openFDA and PubMed</a:t>
                      </a:r>
                    </a:p>
                  </a:txBody>
                  <a:tcPr anchor="ctr">
                    <a:solidFill>
                      <a:srgbClr val="ED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Agent actions (choices)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3"/>
                          </a:solidFill>
                          <a:latin typeface="Calibri"/>
                          <a:ea typeface="Calibri"/>
                          <a:cs typeface="Calibri"/>
                        </a:rPr>
                        <a:t>The ActionType menu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DB05105-771F-43C8-814D-00E6A3B35C26}"/>
              </a:ext>
            </a:extLst>
          </p:cNvPr>
          <p:cNvSpPr>
            <a:spLocks noGrp="1"/>
          </p:cNvSpPr>
          <p:nvPr/>
        </p:nvSpPr>
        <p:spPr>
          <a:xfrm>
            <a:off x="552450" y="5781675"/>
            <a:ext cx="11087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575" b="1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575" b="1" dirty="0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Two call types means two jobs for the model, not two calls per run.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DED6F1-3AE8-4203-B738-7D04CE5DF0F1}"/>
              </a:ext>
            </a:extLst>
          </p:cNvPr>
          <p:cNvSpPr>
            <a:spLocks noGrp="1"/>
          </p:cNvSpPr>
          <p:nvPr/>
        </p:nvSpPr>
        <p:spPr>
          <a:xfrm>
            <a:off x="552450" y="6162675"/>
            <a:ext cx="110871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425" b="0">
                <a:solidFill>
                  <a:srgbClr val="5269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26976"/>
                </a:solidFill>
                <a:latin typeface="Calibri"/>
                <a:ea typeface="Calibri"/>
                <a:cs typeface="Calibri"/>
              </a:rPr>
              <a:t>The CLI calls tool functions directly. The MCP server exposes the same three tools separately.</a:t>
            </a:r>
          </a:p>
        </p:txBody>
      </p:sp>
    </p:spTree>
    <p:extLst>
      <p:ext uri="{BB962C8B-B14F-4D97-AF65-F5344CB8AC3E}">
        <p14:creationId xmlns:p14="http://schemas.microsoft.com/office/powerpoint/2010/main" val="82527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4939AE-F4DB-41CA-8809-246B0466A196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ARCHITECTURE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756660-0C50-4DEE-B230-3344C9830F48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One agent, sequential, with a deterministic backbone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24DFF3E-11A2-48B4-8247-4025D7B0BED9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0B2A3A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44AAC8-E31E-4576-85AD-B5DA42715C9A}"/>
              </a:ext>
            </a:extLst>
          </p:cNvPr>
          <p:cNvSpPr>
            <a:spLocks noGrp="1"/>
          </p:cNvSpPr>
          <p:nvPr/>
        </p:nvSpPr>
        <p:spPr>
          <a:xfrm>
            <a:off x="777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Single investigation agent (LangGraph)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638F51-B793-40E4-B1BA-A7073E9E18B1}"/>
              </a:ext>
            </a:extLst>
          </p:cNvPr>
          <p:cNvSpPr>
            <a:spLocks noGrp="1"/>
          </p:cNvSpPr>
          <p:nvPr/>
        </p:nvSpPr>
        <p:spPr>
          <a:xfrm>
            <a:off x="777240" y="21945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9FD0DA"/>
                </a:solidFill>
                <a:latin typeface="Courier New"/>
                <a:ea typeface="Courier New"/>
                <a:cs typeface="Courier New"/>
              </a:rPr>
              <a:t>initialize → normalize → decide ⇄ act → finalize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29ECB3-F09D-41F0-9CB0-6DFCDF573BD9}"/>
              </a:ext>
            </a:extLst>
          </p:cNvPr>
          <p:cNvSpPr>
            <a:spLocks noGrp="1"/>
          </p:cNvSpPr>
          <p:nvPr/>
        </p:nvSpPr>
        <p:spPr>
          <a:xfrm>
            <a:off x="777240" y="260604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E7F2F4"/>
                </a:solidFill>
                <a:latin typeface="Calibri"/>
                <a:ea typeface="Calibri"/>
                <a:cs typeface="Calibri"/>
              </a:rPr>
              <a:t>LLM decides the next action from state</a:t>
            </a:r>
            <a:endParaRPr sz="13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E7F2F4"/>
                </a:solidFill>
                <a:latin typeface="Calibri"/>
                <a:ea typeface="Calibri"/>
                <a:cs typeface="Calibri"/>
              </a:rPr>
              <a:t>LLM writes one framing sentence</a:t>
            </a:r>
            <a:endParaRPr sz="13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E7F2F4"/>
                </a:solidFill>
                <a:latin typeface="Calibri"/>
                <a:ea typeface="Calibri"/>
                <a:cs typeface="Calibri"/>
              </a:rPr>
              <a:t>everything else = deterministic</a:t>
            </a:r>
            <a:endParaRPr sz="13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990162F-DBEA-40C1-8ED9-BFE3FC322C34}"/>
              </a:ext>
            </a:extLst>
          </p:cNvPr>
          <p:cNvSpPr>
            <a:spLocks noGrp="1"/>
          </p:cNvSpPr>
          <p:nvPr/>
        </p:nvSpPr>
        <p:spPr>
          <a:xfrm>
            <a:off x="5989320" y="1600200"/>
            <a:ext cx="5650992" cy="2286000"/>
          </a:xfrm>
          <a:prstGeom prst="roundRect">
            <a:avLst>
              <a:gd name="adj" fmla="val 3200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FAB1C53-644F-4818-8647-267E5BBD95BC}"/>
              </a:ext>
            </a:extLst>
          </p:cNvPr>
          <p:cNvSpPr>
            <a:spLocks noGrp="1"/>
          </p:cNvSpPr>
          <p:nvPr/>
        </p:nvSpPr>
        <p:spPr>
          <a:xfrm>
            <a:off x="6217920" y="17830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3 tools, also exposed through MCP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9B72136-F7DF-4FD9-B63C-BAC4E549BC46}"/>
              </a:ext>
            </a:extLst>
          </p:cNvPr>
          <p:cNvSpPr>
            <a:spLocks noGrp="1"/>
          </p:cNvSpPr>
          <p:nvPr/>
        </p:nvSpPr>
        <p:spPr>
          <a:xfrm>
            <a:off x="6217920" y="224028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openFDA FAERS search</a:t>
            </a:r>
            <a:endParaRPr sz="14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openFDA drug-label</a:t>
            </a:r>
            <a:endParaRPr sz="14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PubMed citation metadata</a:t>
            </a:r>
            <a:endParaRPr sz="1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A4568C1-42BD-4D08-BCE9-BCFF036600CA}"/>
              </a:ext>
            </a:extLst>
          </p:cNvPr>
          <p:cNvSpPr>
            <a:spLocks noGrp="1"/>
          </p:cNvSpPr>
          <p:nvPr/>
        </p:nvSpPr>
        <p:spPr>
          <a:xfrm>
            <a:off x="6217920" y="34290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bounded timeouts + retries (429/503 honor Retry-After) · structured errors</a:t>
            </a:r>
            <a:endParaRPr sz="11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1B6B648-A7E5-4AEF-98AD-230A4E5EB05E}"/>
              </a:ext>
            </a:extLst>
          </p:cNvPr>
          <p:cNvSpPr>
            <a:spLocks noGrp="1"/>
          </p:cNvSpPr>
          <p:nvPr/>
        </p:nvSpPr>
        <p:spPr>
          <a:xfrm>
            <a:off x="548640" y="40690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BF3E0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3C389A9-6DE4-402E-9AA9-7E706B3D94D4}"/>
              </a:ext>
            </a:extLst>
          </p:cNvPr>
          <p:cNvSpPr>
            <a:spLocks noGrp="1"/>
          </p:cNvSpPr>
          <p:nvPr/>
        </p:nvSpPr>
        <p:spPr>
          <a:xfrm>
            <a:off x="777240" y="42245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9880A"/>
                </a:solidFill>
                <a:latin typeface="Calibri"/>
                <a:ea typeface="Calibri"/>
                <a:cs typeface="Calibri"/>
              </a:rPr>
              <a:t>Deterministic analysis (no LLM)</a:t>
            </a:r>
            <a:endParaRPr sz="1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F7C5A60-B080-45B7-80D5-193881CA9618}"/>
              </a:ext>
            </a:extLst>
          </p:cNvPr>
          <p:cNvSpPr>
            <a:spLocks noGrp="1"/>
          </p:cNvSpPr>
          <p:nvPr/>
        </p:nvSpPr>
        <p:spPr>
          <a:xfrm>
            <a:off x="777240" y="4645152"/>
            <a:ext cx="502920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normalize · aggregate · seriousness · missingness · dedup · temporal</a:t>
            </a:r>
            <a:endParaRPr sz="14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760DED6-8101-470C-8BDD-4706CBBDB732}"/>
              </a:ext>
            </a:extLst>
          </p:cNvPr>
          <p:cNvSpPr>
            <a:spLocks noGrp="1"/>
          </p:cNvSpPr>
          <p:nvPr/>
        </p:nvSpPr>
        <p:spPr>
          <a:xfrm>
            <a:off x="6263640" y="4069080"/>
            <a:ext cx="5376672" cy="2011680"/>
          </a:xfrm>
          <a:prstGeom prst="roundRect">
            <a:avLst>
              <a:gd name="adj" fmla="val 3636"/>
            </a:avLst>
          </a:prstGeom>
          <a:solidFill>
            <a:srgbClr val="D8ECE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2F4451A-B8D0-4D09-A80E-9542602C5F12}"/>
              </a:ext>
            </a:extLst>
          </p:cNvPr>
          <p:cNvSpPr>
            <a:spLocks noGrp="1"/>
          </p:cNvSpPr>
          <p:nvPr/>
        </p:nvSpPr>
        <p:spPr>
          <a:xfrm>
            <a:off x="6492240" y="42245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SQLite: storage + trace + dependency graph</a:t>
            </a:r>
            <a:endParaRPr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B609011-1C4E-4564-A374-98CC84D9BD96}"/>
              </a:ext>
            </a:extLst>
          </p:cNvPr>
          <p:cNvSpPr>
            <a:spLocks noGrp="1"/>
          </p:cNvSpPr>
          <p:nvPr/>
        </p:nvSpPr>
        <p:spPr>
          <a:xfrm>
            <a:off x="6492240" y="4645152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immutable evidence · analysis · memo (kept separate) · snapshot cache · metrics spine · evidence→analysis→memo graph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002985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9CE456-7883-4486-8446-E0332AC8369C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871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200" b="1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811CB9-24BF-4B01-9FC9-963E2420A5B0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8710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200" b="1">
                <a:solidFill>
                  <a:srgbClr val="202C33"/>
                </a:solidFill>
                <a:latin typeface="Cambria"/>
                <a:ea typeface="Cambria"/>
                <a:cs typeface="Cambria"/>
              </a:defRPr>
            </a:pPr>
            <a:r>
              <a:rPr sz="3200" b="1">
                <a:solidFill>
                  <a:srgbClr val="202C33"/>
                </a:solidFill>
                <a:latin typeface="Cambria"/>
                <a:ea typeface="Cambria"/>
                <a:cs typeface="Cambria"/>
              </a:rPr>
              <a:t>Full input-to-output flowchart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9090" y="1419225"/>
            <a:ext cx="4157721" cy="53054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91A57A-8704-4E14-B6EE-E28242AE87F9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609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2250" b="1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One question, one memo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53711-99D6-4EE4-86D7-A130590C9C0A}"/>
              </a:ext>
            </a:extLst>
          </p:cNvPr>
          <p:cNvSpPr>
            <a:spLocks noGrp="1"/>
          </p:cNvSpPr>
          <p:nvPr/>
        </p:nvSpPr>
        <p:spPr>
          <a:xfrm>
            <a:off x="5238750" y="2305050"/>
            <a:ext cx="60960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2025" b="0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The agent repeatedly chooses a permitted step. Each retrieval or check returns to the decision loop.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8C5009-D326-42E3-8088-49841F0E01A2}"/>
              </a:ext>
            </a:extLst>
          </p:cNvPr>
          <p:cNvSpPr>
            <a:spLocks noGrp="1"/>
          </p:cNvSpPr>
          <p:nvPr/>
        </p:nvSpPr>
        <p:spPr>
          <a:xfrm>
            <a:off x="5238750" y="3571875"/>
            <a:ext cx="6096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2025" b="0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The next three slides show the same workflow in readable parts.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A188C3-37A8-4D9E-9221-441809C4C2D9}"/>
              </a:ext>
            </a:extLst>
          </p:cNvPr>
          <p:cNvSpPr>
            <a:spLocks noGrp="1"/>
          </p:cNvSpPr>
          <p:nvPr/>
        </p:nvSpPr>
        <p:spPr>
          <a:xfrm>
            <a:off x="5238750" y="4848225"/>
            <a:ext cx="6096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800" b="1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Reading the chart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FDB01A-253B-4A5B-A4BD-A7D4A4011DCA}"/>
              </a:ext>
            </a:extLst>
          </p:cNvPr>
          <p:cNvSpPr>
            <a:spLocks noGrp="1"/>
          </p:cNvSpPr>
          <p:nvPr/>
        </p:nvSpPr>
        <p:spPr>
          <a:xfrm>
            <a:off x="5238750" y="5353050"/>
            <a:ext cx="6096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725" b="0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“Same response?” means a saved response for the same request. Both Generate memo and Stop lead to finalization.</a:t>
            </a:r>
          </a:p>
        </p:txBody>
      </p:sp>
    </p:spTree>
    <p:extLst>
      <p:ext uri="{BB962C8B-B14F-4D97-AF65-F5344CB8AC3E}">
        <p14:creationId xmlns:p14="http://schemas.microsoft.com/office/powerpoint/2010/main" val="1715104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DCC46C-64FA-4684-8011-E5557078EE7B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871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200" b="1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WORKFLOW 1 OF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508987-F9E8-4746-9D8A-77504CFED367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8710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200" b="1">
                <a:solidFill>
                  <a:srgbClr val="202C33"/>
                </a:solidFill>
                <a:latin typeface="Cambria"/>
                <a:ea typeface="Cambria"/>
                <a:cs typeface="Cambria"/>
              </a:defRPr>
            </a:pPr>
            <a:r>
              <a:rPr sz="3200" b="1">
                <a:solidFill>
                  <a:srgbClr val="202C33"/>
                </a:solidFill>
                <a:latin typeface="Cambria"/>
                <a:ea typeface="Cambria"/>
                <a:cs typeface="Cambria"/>
              </a:rPr>
              <a:t>Input and next-action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15CC62-01FA-494A-A75F-E0A72288021D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2305050" cy="800100"/>
          </a:xfrm>
          <a:prstGeom prst="rect">
            <a:avLst/>
          </a:prstGeom>
          <a:solidFill>
            <a:srgbClr val="0C2C3B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Drug + event</a:t>
            </a:r>
            <a:r>
              <a:rPr lang="en-US" sz="1725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+</a:t>
            </a:r>
            <a:endParaRPr sz="1725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Date range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205E07-71AB-435F-9139-1A60455ADD53}"/>
              </a:ext>
            </a:extLst>
          </p:cNvPr>
          <p:cNvSpPr>
            <a:spLocks noGrp="1"/>
          </p:cNvSpPr>
          <p:nvPr/>
        </p:nvSpPr>
        <p:spPr>
          <a:xfrm>
            <a:off x="3333750" y="1600200"/>
            <a:ext cx="2305050" cy="80010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Validate dates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580C2C-F230-4BF4-899A-43BB0BF87D67}"/>
              </a:ext>
            </a:extLst>
          </p:cNvPr>
          <p:cNvSpPr>
            <a:spLocks noGrp="1"/>
          </p:cNvSpPr>
          <p:nvPr/>
        </p:nvSpPr>
        <p:spPr>
          <a:xfrm>
            <a:off x="6115050" y="1600200"/>
            <a:ext cx="2305050" cy="80010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Create </a:t>
            </a:r>
            <a:r>
              <a:rPr lang="en-US" sz="1725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investigation</a:t>
            </a:r>
            <a:endParaRPr sz="1725" dirty="0">
              <a:solidFill>
                <a:srgbClr val="202C33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Open SQLite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B842A3-CD2A-4235-878A-7058EBF08DD2}"/>
              </a:ext>
            </a:extLst>
          </p:cNvPr>
          <p:cNvSpPr>
            <a:spLocks noGrp="1"/>
          </p:cNvSpPr>
          <p:nvPr/>
        </p:nvSpPr>
        <p:spPr>
          <a:xfrm>
            <a:off x="8896350" y="1600200"/>
            <a:ext cx="2743200" cy="80010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Normalize names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Save for display</a:t>
            </a:r>
          </a:p>
        </p:txBody>
      </p:sp>
      <p:cxnSp>
        <p:nvCxnSpPr>
          <p:cNvPr id="28" name="Straight Arrow Connector 27"/>
          <p:cNvCxnSpPr>
            <a:stCxn id="3" idx="3"/>
            <a:endCxn id="4" idx="1"/>
          </p:cNvCxnSpPr>
          <p:nvPr/>
        </p:nvCxnSpPr>
        <p:spPr>
          <a:xfrm>
            <a:off x="2857500" y="2000250"/>
            <a:ext cx="476250" cy="0"/>
          </a:xfrm>
          <a:prstGeom prst="straightConnector1">
            <a:avLst/>
          </a:prstGeom>
          <a:ln w="19050">
            <a:solidFill>
              <a:srgbClr val="007D8A"/>
            </a:solidFill>
            <a:tailEnd type="triangle" w="med" len="med"/>
          </a:ln>
        </p:spPr>
      </p:cxnSp>
      <p:cxnSp>
        <p:nvCxnSpPr>
          <p:cNvPr id="29" name="Straight Arrow Connector 28"/>
          <p:cNvCxnSpPr>
            <a:stCxn id="4" idx="3"/>
            <a:endCxn id="5" idx="1"/>
          </p:cNvCxnSpPr>
          <p:nvPr/>
        </p:nvCxnSpPr>
        <p:spPr>
          <a:xfrm>
            <a:off x="5638800" y="2000250"/>
            <a:ext cx="476250" cy="0"/>
          </a:xfrm>
          <a:prstGeom prst="straightConnector1">
            <a:avLst/>
          </a:prstGeom>
          <a:ln w="19050">
            <a:solidFill>
              <a:srgbClr val="007D8A"/>
            </a:solidFill>
            <a:tailEnd type="triangle" w="med" len="med"/>
          </a:ln>
        </p:spPr>
      </p:cxnSp>
      <p:cxnSp>
        <p:nvCxnSpPr>
          <p:cNvPr id="30" name="Straight Arrow Connector 29"/>
          <p:cNvCxnSpPr>
            <a:stCxn id="5" idx="3"/>
            <a:endCxn id="6" idx="1"/>
          </p:cNvCxnSpPr>
          <p:nvPr/>
        </p:nvCxnSpPr>
        <p:spPr>
          <a:xfrm>
            <a:off x="8420100" y="2000250"/>
            <a:ext cx="476250" cy="0"/>
          </a:xfrm>
          <a:prstGeom prst="straightConnector1">
            <a:avLst/>
          </a:prstGeom>
          <a:ln w="19050">
            <a:solidFill>
              <a:srgbClr val="007D8A"/>
            </a:solidFill>
            <a:tailEnd type="triangle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3C38C87-9F1D-4327-9CFF-8E637A170DF8}"/>
              </a:ext>
            </a:extLst>
          </p:cNvPr>
          <p:cNvSpPr>
            <a:spLocks noGrp="1"/>
          </p:cNvSpPr>
          <p:nvPr/>
        </p:nvSpPr>
        <p:spPr>
          <a:xfrm>
            <a:off x="3422650" y="2328863"/>
            <a:ext cx="2127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500" b="0">
                <a:solidFill>
                  <a:srgbClr val="526976"/>
                </a:solidFill>
                <a:latin typeface="Calibri"/>
                <a:ea typeface="Calibri"/>
                <a:cs typeface="Calibri"/>
              </a:defRPr>
            </a:pPr>
            <a:r>
              <a:rPr sz="1200" b="0" dirty="0">
                <a:solidFill>
                  <a:srgbClr val="526976"/>
                </a:solidFill>
                <a:latin typeface="Calibri"/>
                <a:ea typeface="Calibri"/>
                <a:cs typeface="Calibri"/>
              </a:rPr>
              <a:t>Invalid dates return an input error.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AAAA9A-811B-45C9-A750-B00D15CC51BD}"/>
              </a:ext>
            </a:extLst>
          </p:cNvPr>
          <p:cNvSpPr>
            <a:spLocks noGrp="1"/>
          </p:cNvSpPr>
          <p:nvPr/>
        </p:nvSpPr>
        <p:spPr>
          <a:xfrm>
            <a:off x="552450" y="3286125"/>
            <a:ext cx="2619375" cy="85725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Check step limit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and token budget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498E21-9F33-4BB3-8FCF-A75537AC7AE1}"/>
              </a:ext>
            </a:extLst>
          </p:cNvPr>
          <p:cNvSpPr>
            <a:spLocks noGrp="1"/>
          </p:cNvSpPr>
          <p:nvPr/>
        </p:nvSpPr>
        <p:spPr>
          <a:xfrm>
            <a:off x="4029075" y="3286125"/>
            <a:ext cx="3476625" cy="857250"/>
          </a:xfrm>
          <a:prstGeom prst="rect">
            <a:avLst/>
          </a:prstGeom>
          <a:solidFill>
            <a:srgbClr val="0C2C3B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chooses one</a:t>
            </a:r>
          </a:p>
          <a:p>
            <a:pPr algn="ct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legal next 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256594-66AF-4150-9ABE-549DAB055B17}"/>
              </a:ext>
            </a:extLst>
          </p:cNvPr>
          <p:cNvSpPr>
            <a:spLocks noGrp="1"/>
          </p:cNvSpPr>
          <p:nvPr/>
        </p:nvSpPr>
        <p:spPr>
          <a:xfrm>
            <a:off x="8782050" y="3286125"/>
            <a:ext cx="2857500" cy="857250"/>
          </a:xfrm>
          <a:prstGeom prst="rect">
            <a:avLst/>
          </a:prstGeom>
          <a:solidFill>
            <a:srgbClr val="FCF4DE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Finish and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build the memo</a:t>
            </a:r>
          </a:p>
        </p:txBody>
      </p:sp>
      <p:cxnSp>
        <p:nvCxnSpPr>
          <p:cNvPr id="35" name="Straight Arrow Connector 34"/>
          <p:cNvCxnSpPr>
            <a:cxnSpLocks/>
            <a:stCxn id="11" idx="3"/>
            <a:endCxn id="12" idx="1"/>
          </p:cNvCxnSpPr>
          <p:nvPr/>
        </p:nvCxnSpPr>
        <p:spPr>
          <a:xfrm>
            <a:off x="3171825" y="3714750"/>
            <a:ext cx="857250" cy="0"/>
          </a:xfrm>
          <a:prstGeom prst="straightConnector1">
            <a:avLst/>
          </a:prstGeom>
          <a:ln w="19050">
            <a:solidFill>
              <a:srgbClr val="007D8A"/>
            </a:solidFill>
            <a:tailEnd type="triangle" w="med" len="med"/>
          </a:ln>
        </p:spPr>
      </p:cxnSp>
      <p:cxnSp>
        <p:nvCxnSpPr>
          <p:cNvPr id="36" name="Straight Arrow Connector 35"/>
          <p:cNvCxnSpPr>
            <a:stCxn id="12" idx="3"/>
            <a:endCxn id="13" idx="1"/>
          </p:cNvCxnSpPr>
          <p:nvPr/>
        </p:nvCxnSpPr>
        <p:spPr>
          <a:xfrm>
            <a:off x="7505700" y="3714750"/>
            <a:ext cx="1276350" cy="0"/>
          </a:xfrm>
          <a:prstGeom prst="straightConnector1">
            <a:avLst/>
          </a:prstGeom>
          <a:ln w="19050">
            <a:solidFill>
              <a:srgbClr val="007D8A"/>
            </a:solidFill>
            <a:tailEnd type="triangle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DB7F623-B645-49D0-B2B3-FC943DE3A5B2}"/>
              </a:ext>
            </a:extLst>
          </p:cNvPr>
          <p:cNvSpPr>
            <a:spLocks noGrp="1"/>
          </p:cNvSpPr>
          <p:nvPr/>
        </p:nvSpPr>
        <p:spPr>
          <a:xfrm>
            <a:off x="3243263" y="3470275"/>
            <a:ext cx="690562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275" b="0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000" b="0" dirty="0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Within limits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424C24-6E03-4CA5-9D94-AA4230C7F645}"/>
              </a:ext>
            </a:extLst>
          </p:cNvPr>
          <p:cNvSpPr>
            <a:spLocks noGrp="1"/>
          </p:cNvSpPr>
          <p:nvPr/>
        </p:nvSpPr>
        <p:spPr>
          <a:xfrm>
            <a:off x="7762875" y="3525838"/>
            <a:ext cx="762000" cy="17462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275" b="0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000" b="0" dirty="0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Finish or stop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92E520-9FFE-4A87-84FE-3C975440A75A}"/>
              </a:ext>
            </a:extLst>
          </p:cNvPr>
          <p:cNvSpPr>
            <a:spLocks noGrp="1"/>
          </p:cNvSpPr>
          <p:nvPr/>
        </p:nvSpPr>
        <p:spPr>
          <a:xfrm>
            <a:off x="552450" y="437197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725" b="1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At the limit, finish. After other actions, return here.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8327A0-7433-47FD-B33A-67B0E8803E06}"/>
              </a:ext>
            </a:extLst>
          </p:cNvPr>
          <p:cNvSpPr>
            <a:spLocks noGrp="1"/>
          </p:cNvSpPr>
          <p:nvPr/>
        </p:nvSpPr>
        <p:spPr>
          <a:xfrm>
            <a:off x="552450" y="4933950"/>
            <a:ext cx="110871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2025" b="1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8 possible choices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7BFC5A-E5EE-4DA7-AFF5-AA1AF760D7A3}"/>
              </a:ext>
            </a:extLst>
          </p:cNvPr>
          <p:cNvSpPr>
            <a:spLocks noGrp="1"/>
          </p:cNvSpPr>
          <p:nvPr/>
        </p:nvSpPr>
        <p:spPr>
          <a:xfrm>
            <a:off x="552450" y="5639832"/>
            <a:ext cx="11087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800" b="0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lang="en-US" sz="1800" b="0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800" b="0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Retrieve FAERS       </a:t>
            </a:r>
            <a:r>
              <a:rPr lang="en-US" sz="1800" b="0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800" b="0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Retrieve label       </a:t>
            </a:r>
            <a:r>
              <a:rPr lang="en-US" sz="1800" b="0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800" b="0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Retrieve literature       </a:t>
            </a:r>
            <a:r>
              <a:rPr lang="en-US" sz="1800" b="0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800" b="0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Run analysis</a:t>
            </a:r>
            <a:endParaRPr lang="en-US" sz="1800" b="0" dirty="0">
              <a:solidFill>
                <a:srgbClr val="202C33"/>
              </a:solidFill>
              <a:latin typeface="Calibri"/>
              <a:ea typeface="Calibri"/>
              <a:cs typeface="Calibri"/>
            </a:endParaRPr>
          </a:p>
          <a:p>
            <a:pPr>
              <a:defRPr sz="1800" b="0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- Check sufficiency       - Detect conflicts       - Generate memo       - Stop</a:t>
            </a:r>
          </a:p>
          <a:p>
            <a:pPr>
              <a:defRPr sz="1800" b="0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endParaRPr sz="1800" b="0" dirty="0">
              <a:solidFill>
                <a:srgbClr val="202C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799BDC-9276-468F-9E06-81A646335F15}"/>
              </a:ext>
            </a:extLst>
          </p:cNvPr>
          <p:cNvSpPr>
            <a:spLocks noGrp="1"/>
          </p:cNvSpPr>
          <p:nvPr/>
        </p:nvSpPr>
        <p:spPr>
          <a:xfrm>
            <a:off x="552450" y="5876925"/>
            <a:ext cx="11087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800" b="0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endParaRPr sz="1800" b="0" dirty="0">
              <a:solidFill>
                <a:srgbClr val="202C33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966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7B9A297-3CB9-40D4-8553-CFC0C52E83EB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871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200" b="1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WORKFLOW 2 OF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E92212-A2C1-434A-B37A-652928A1FFB9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8710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200" b="1">
                <a:solidFill>
                  <a:srgbClr val="202C33"/>
                </a:solidFill>
                <a:latin typeface="Cambria"/>
                <a:ea typeface="Cambria"/>
                <a:cs typeface="Cambria"/>
              </a:defRPr>
            </a:pPr>
            <a:r>
              <a:rPr sz="3200" b="1">
                <a:solidFill>
                  <a:srgbClr val="202C33"/>
                </a:solidFill>
                <a:latin typeface="Cambria"/>
                <a:ea typeface="Cambria"/>
                <a:cs typeface="Cambria"/>
              </a:rPr>
              <a:t>Retrieval, caching, and retries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0F2ABE-D1F0-4AFF-B983-D19C09290E39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2381250" cy="762000"/>
          </a:xfrm>
          <a:prstGeom prst="rect">
            <a:avLst/>
          </a:prstGeom>
          <a:solidFill>
            <a:srgbClr val="0C2C3B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 a source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8C255-1E47-4815-83C5-50FE6EEC91AA}"/>
              </a:ext>
            </a:extLst>
          </p:cNvPr>
          <p:cNvSpPr>
            <a:spLocks noGrp="1"/>
          </p:cNvSpPr>
          <p:nvPr/>
        </p:nvSpPr>
        <p:spPr>
          <a:xfrm>
            <a:off x="3648075" y="1600200"/>
            <a:ext cx="2857500" cy="76200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Saved response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for this request?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875444-C255-4978-948D-E04FEE222EC4}"/>
              </a:ext>
            </a:extLst>
          </p:cNvPr>
          <p:cNvSpPr>
            <a:spLocks noGrp="1"/>
          </p:cNvSpPr>
          <p:nvPr/>
        </p:nvSpPr>
        <p:spPr>
          <a:xfrm>
            <a:off x="7553325" y="1600200"/>
            <a:ext cx="4086225" cy="76200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Fetch public data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Up to 3 tries per request</a:t>
            </a:r>
          </a:p>
        </p:txBody>
      </p:sp>
      <p:cxnSp>
        <p:nvCxnSpPr>
          <p:cNvPr id="23" name="Straight Arrow Connector 22"/>
          <p:cNvCxnSpPr>
            <a:stCxn id="3" idx="3"/>
            <a:endCxn id="4" idx="1"/>
          </p:cNvCxnSpPr>
          <p:nvPr/>
        </p:nvCxnSpPr>
        <p:spPr>
          <a:xfrm>
            <a:off x="2933700" y="1981200"/>
            <a:ext cx="714375" cy="0"/>
          </a:xfrm>
          <a:prstGeom prst="straightConnector1">
            <a:avLst/>
          </a:prstGeom>
          <a:ln w="19050">
            <a:solidFill>
              <a:srgbClr val="007D8A"/>
            </a:solidFill>
            <a:tailEnd type="triangle" w="med" len="med"/>
          </a:ln>
        </p:spPr>
      </p:cxnSp>
      <p:cxnSp>
        <p:nvCxnSpPr>
          <p:cNvPr id="24" name="Straight Arrow Connector 23"/>
          <p:cNvCxnSpPr>
            <a:stCxn id="4" idx="3"/>
            <a:endCxn id="5" idx="1"/>
          </p:cNvCxnSpPr>
          <p:nvPr/>
        </p:nvCxnSpPr>
        <p:spPr>
          <a:xfrm>
            <a:off x="6505575" y="1981200"/>
            <a:ext cx="1047750" cy="0"/>
          </a:xfrm>
          <a:prstGeom prst="straightConnector1">
            <a:avLst/>
          </a:prstGeom>
          <a:ln w="19050">
            <a:solidFill>
              <a:srgbClr val="007D8A"/>
            </a:solidFill>
            <a:tailEnd type="triangle" w="med" len="me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C415EBE-7083-4621-9C9D-8E41B94E982E}"/>
              </a:ext>
            </a:extLst>
          </p:cNvPr>
          <p:cNvSpPr>
            <a:spLocks noGrp="1"/>
          </p:cNvSpPr>
          <p:nvPr/>
        </p:nvSpPr>
        <p:spPr>
          <a:xfrm>
            <a:off x="6848475" y="1647825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500" b="0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5E3370-ACE8-4CDF-8047-2DF05E82EE97}"/>
              </a:ext>
            </a:extLst>
          </p:cNvPr>
          <p:cNvSpPr>
            <a:spLocks noGrp="1"/>
          </p:cNvSpPr>
          <p:nvPr/>
        </p:nvSpPr>
        <p:spPr>
          <a:xfrm>
            <a:off x="4133850" y="2543175"/>
            <a:ext cx="18859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050" b="0" dirty="0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Yes: use saved data. A retriable failure may lead to another fetch round.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A2F0A0-05A0-4BDB-9552-2425473931CA}"/>
              </a:ext>
            </a:extLst>
          </p:cNvPr>
          <p:cNvSpPr>
            <a:spLocks noGrp="1"/>
          </p:cNvSpPr>
          <p:nvPr/>
        </p:nvSpPr>
        <p:spPr>
          <a:xfrm>
            <a:off x="552450" y="3476625"/>
            <a:ext cx="3238500" cy="1809750"/>
          </a:xfrm>
          <a:prstGeom prst="rect">
            <a:avLst/>
          </a:prstGeom>
          <a:solidFill>
            <a:srgbClr val="FCF4DE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Error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Log failure</a:t>
            </a:r>
          </a:p>
          <a:p>
            <a:endParaRPr sz="1725">
              <a:solidFill>
                <a:srgbClr val="202C33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Agent can choose 2 more rounds.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Then abandon that source.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BDC6C6-8171-4D87-833A-0E420E12AF2E}"/>
              </a:ext>
            </a:extLst>
          </p:cNvPr>
          <p:cNvSpPr>
            <a:spLocks noGrp="1"/>
          </p:cNvSpPr>
          <p:nvPr/>
        </p:nvSpPr>
        <p:spPr>
          <a:xfrm>
            <a:off x="4467225" y="3476625"/>
            <a:ext cx="3238500" cy="180975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Success, no matches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Mark source finished</a:t>
            </a:r>
          </a:p>
          <a:p>
            <a:endParaRPr sz="1725">
              <a:solidFill>
                <a:srgbClr val="202C33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Move on without retrying.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Cache the empty response.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03362F-170B-4D35-B550-96F9C1FC8A32}"/>
              </a:ext>
            </a:extLst>
          </p:cNvPr>
          <p:cNvSpPr>
            <a:spLocks noGrp="1"/>
          </p:cNvSpPr>
          <p:nvPr/>
        </p:nvSpPr>
        <p:spPr>
          <a:xfrm>
            <a:off x="8382000" y="3476625"/>
            <a:ext cx="3257550" cy="180975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Records returned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Save data and source details</a:t>
            </a:r>
          </a:p>
          <a:p>
            <a:endParaRPr sz="1725">
              <a:solidFill>
                <a:srgbClr val="202C33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Cache the response.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Store evidence in SQLite.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96BB24-842D-4B4D-9EFB-6DBF7D92C1DA}"/>
              </a:ext>
            </a:extLst>
          </p:cNvPr>
          <p:cNvSpPr>
            <a:spLocks noGrp="1"/>
          </p:cNvSpPr>
          <p:nvPr/>
        </p:nvSpPr>
        <p:spPr>
          <a:xfrm>
            <a:off x="552450" y="3067050"/>
            <a:ext cx="110871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575" b="0">
                <a:solidFill>
                  <a:srgbClr val="5269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976"/>
                </a:solidFill>
                <a:latin typeface="Calibri"/>
                <a:ea typeface="Calibri"/>
                <a:cs typeface="Calibri"/>
              </a:rPr>
              <a:t>Three possible retrieval results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8B868B-BF5F-4425-A7E1-8B3F79DD4F80}"/>
              </a:ext>
            </a:extLst>
          </p:cNvPr>
          <p:cNvSpPr>
            <a:spLocks noGrp="1"/>
          </p:cNvSpPr>
          <p:nvPr/>
        </p:nvSpPr>
        <p:spPr>
          <a:xfrm>
            <a:off x="3333750" y="5886450"/>
            <a:ext cx="5524500" cy="590550"/>
          </a:xfrm>
          <a:prstGeom prst="rect">
            <a:avLst/>
          </a:prstGeom>
          <a:solidFill>
            <a:srgbClr val="0C2C3B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Update state and return to the agent decision</a:t>
            </a:r>
          </a:p>
        </p:txBody>
      </p:sp>
      <p:cxnSp>
        <p:nvCxnSpPr>
          <p:cNvPr id="32" name="Connector: Elbow 31"/>
          <p:cNvCxnSpPr>
            <a:stCxn id="10" idx="2"/>
            <a:endCxn id="14" idx="1"/>
          </p:cNvCxnSpPr>
          <p:nvPr/>
        </p:nvCxnSpPr>
        <p:spPr>
          <a:xfrm>
            <a:off x="2171700" y="5286375"/>
            <a:ext cx="1162050" cy="895350"/>
          </a:xfrm>
          <a:prstGeom prst="bentConnector5">
            <a:avLst>
              <a:gd name="adj1" fmla="val 0"/>
              <a:gd name="adj2" fmla="val 25532"/>
              <a:gd name="adj3" fmla="val 80328"/>
            </a:avLst>
          </a:prstGeom>
          <a:ln w="19050">
            <a:solidFill>
              <a:srgbClr val="007D8A"/>
            </a:solidFill>
            <a:tailEnd type="triangle" w="med" len="med"/>
          </a:ln>
        </p:spPr>
      </p:cxnSp>
      <p:cxnSp>
        <p:nvCxnSpPr>
          <p:cNvPr id="33" name="Connector: Elbow 32"/>
          <p:cNvCxnSpPr>
            <a:cxnSpLocks/>
            <a:stCxn id="11" idx="2"/>
            <a:endCxn id="14" idx="0"/>
          </p:cNvCxnSpPr>
          <p:nvPr/>
        </p:nvCxnSpPr>
        <p:spPr>
          <a:xfrm rot="16200000" flipH="1">
            <a:off x="5791200" y="5581649"/>
            <a:ext cx="600075" cy="9525"/>
          </a:xfrm>
          <a:prstGeom prst="bentConnector3">
            <a:avLst>
              <a:gd name="adj1" fmla="val 50000"/>
            </a:avLst>
          </a:prstGeom>
          <a:ln w="19050">
            <a:solidFill>
              <a:srgbClr val="007D8A"/>
            </a:solidFill>
            <a:tailEnd type="triangle" w="med" len="med"/>
          </a:ln>
        </p:spPr>
      </p:cxnSp>
      <p:cxnSp>
        <p:nvCxnSpPr>
          <p:cNvPr id="34" name="Connector: Elbow 33"/>
          <p:cNvCxnSpPr>
            <a:stCxn id="12" idx="2"/>
            <a:endCxn id="14" idx="3"/>
          </p:cNvCxnSpPr>
          <p:nvPr/>
        </p:nvCxnSpPr>
        <p:spPr>
          <a:xfrm flipH="1">
            <a:off x="8858250" y="5286375"/>
            <a:ext cx="1152525" cy="895350"/>
          </a:xfrm>
          <a:prstGeom prst="bentConnector5">
            <a:avLst>
              <a:gd name="adj1" fmla="val 0"/>
              <a:gd name="adj2" fmla="val 25532"/>
              <a:gd name="adj3" fmla="val 80165"/>
            </a:avLst>
          </a:prstGeom>
          <a:ln w="19050">
            <a:solidFill>
              <a:srgbClr val="007D8A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0154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1862651-9FFD-4159-B754-0DD8B7651C73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871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200" b="1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WORKFLOW 3 OF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1C69A0-C6D3-42B2-A8ED-4770A4DB9973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8710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200" b="1">
                <a:solidFill>
                  <a:srgbClr val="202C33"/>
                </a:solidFill>
                <a:latin typeface="Cambria"/>
                <a:ea typeface="Cambria"/>
                <a:cs typeface="Cambria"/>
              </a:defRPr>
            </a:pPr>
            <a:r>
              <a:rPr sz="3200" b="1">
                <a:solidFill>
                  <a:srgbClr val="202C33"/>
                </a:solidFill>
                <a:latin typeface="Cambria"/>
                <a:ea typeface="Cambria"/>
                <a:cs typeface="Cambria"/>
              </a:rPr>
              <a:t>Analysis and memo output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7F549C-E638-4045-82F3-B64E181FE76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3333750" cy="112395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Run analysis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Counts, versions, duplicates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Seriousness and missingness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17AC92-104A-44BB-97A3-4C157B14DB25}"/>
              </a:ext>
            </a:extLst>
          </p:cNvPr>
          <p:cNvSpPr>
            <a:spLocks noGrp="1"/>
          </p:cNvSpPr>
          <p:nvPr/>
        </p:nvSpPr>
        <p:spPr>
          <a:xfrm>
            <a:off x="4429125" y="1581150"/>
            <a:ext cx="3333750" cy="112395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Check sufficiency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0 cases: insufficient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1–2 cases: limited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AAD39-2FA5-4C48-BC6E-8BD225939E9C}"/>
              </a:ext>
            </a:extLst>
          </p:cNvPr>
          <p:cNvSpPr>
            <a:spLocks noGrp="1"/>
          </p:cNvSpPr>
          <p:nvPr/>
        </p:nvSpPr>
        <p:spPr>
          <a:xfrm>
            <a:off x="8305800" y="1581150"/>
            <a:ext cx="3333750" cy="112395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Detect conflicts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Report presence and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paper-title keywords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098349-41EC-47AE-BF38-D95C40679689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110871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725" b="1">
                <a:solidFill>
                  <a:srgbClr val="007D8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Each selected action returns to the decision loop. These steps are not a fixed sequence.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0FDF03-9850-4794-8F6E-71C4D2DA0BA0}"/>
              </a:ext>
            </a:extLst>
          </p:cNvPr>
          <p:cNvSpPr>
            <a:spLocks noGrp="1"/>
          </p:cNvSpPr>
          <p:nvPr/>
        </p:nvSpPr>
        <p:spPr>
          <a:xfrm>
            <a:off x="552450" y="3743325"/>
            <a:ext cx="2352675" cy="819150"/>
          </a:xfrm>
          <a:prstGeom prst="rect">
            <a:avLst/>
          </a:prstGeom>
          <a:solidFill>
            <a:srgbClr val="0C2C3B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Finalize</a:t>
            </a:r>
          </a:p>
          <a:p>
            <a:pPr algn="ct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framing sentence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CD4672-2718-493D-8158-45FB06D64CBE}"/>
              </a:ext>
            </a:extLst>
          </p:cNvPr>
          <p:cNvSpPr>
            <a:spLocks noGrp="1"/>
          </p:cNvSpPr>
          <p:nvPr/>
        </p:nvSpPr>
        <p:spPr>
          <a:xfrm>
            <a:off x="3333750" y="3743325"/>
            <a:ext cx="2352675" cy="81915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Build memo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Templates and references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24444-4F61-4AE4-8B11-E5301EDA042F}"/>
              </a:ext>
            </a:extLst>
          </p:cNvPr>
          <p:cNvSpPr>
            <a:spLocks noGrp="1"/>
          </p:cNvSpPr>
          <p:nvPr/>
        </p:nvSpPr>
        <p:spPr>
          <a:xfrm>
            <a:off x="6115050" y="3743325"/>
            <a:ext cx="2352675" cy="81915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Check citations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and wording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216289-3211-4885-9F45-A67B390B3C10}"/>
              </a:ext>
            </a:extLst>
          </p:cNvPr>
          <p:cNvSpPr>
            <a:spLocks noGrp="1"/>
          </p:cNvSpPr>
          <p:nvPr/>
        </p:nvSpPr>
        <p:spPr>
          <a:xfrm>
            <a:off x="8896350" y="3743325"/>
            <a:ext cx="2743200" cy="819150"/>
          </a:xfrm>
          <a:prstGeom prst="rect">
            <a:avLst/>
          </a:prstGeom>
          <a:solidFill>
            <a:srgbClr val="EDF3F4"/>
          </a:solidFill>
          <a:ln w="11430">
            <a:solidFill>
              <a:srgbClr val="007D8A"/>
            </a:solidFill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Save memo</a:t>
            </a:r>
          </a:p>
          <a:p>
            <a:pPr algn="ctr">
              <a:defRPr sz="1725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Validation + run status</a:t>
            </a:r>
          </a:p>
        </p:txBody>
      </p:sp>
      <p:cxnSp>
        <p:nvCxnSpPr>
          <p:cNvPr id="28" name="Straight Arrow Connector 27"/>
          <p:cNvCxnSpPr>
            <a:stCxn id="7" idx="3"/>
            <a:endCxn id="8" idx="1"/>
          </p:cNvCxnSpPr>
          <p:nvPr/>
        </p:nvCxnSpPr>
        <p:spPr>
          <a:xfrm>
            <a:off x="2905125" y="4152900"/>
            <a:ext cx="428625" cy="0"/>
          </a:xfrm>
          <a:prstGeom prst="straightConnector1">
            <a:avLst/>
          </a:prstGeom>
          <a:ln w="19050">
            <a:solidFill>
              <a:srgbClr val="007D8A"/>
            </a:solidFill>
            <a:tailEnd type="triangle" w="med" len="med"/>
          </a:ln>
        </p:spPr>
      </p:cxnSp>
      <p:cxnSp>
        <p:nvCxnSpPr>
          <p:cNvPr id="29" name="Straight Arrow Connector 28"/>
          <p:cNvCxnSpPr>
            <a:stCxn id="8" idx="3"/>
            <a:endCxn id="9" idx="1"/>
          </p:cNvCxnSpPr>
          <p:nvPr/>
        </p:nvCxnSpPr>
        <p:spPr>
          <a:xfrm>
            <a:off x="5686425" y="4152900"/>
            <a:ext cx="428625" cy="0"/>
          </a:xfrm>
          <a:prstGeom prst="straightConnector1">
            <a:avLst/>
          </a:prstGeom>
          <a:ln w="19050">
            <a:solidFill>
              <a:srgbClr val="007D8A"/>
            </a:solidFill>
            <a:tailEnd type="triangle" w="med" len="med"/>
          </a:ln>
        </p:spPr>
      </p:cxnSp>
      <p:cxnSp>
        <p:nvCxnSpPr>
          <p:cNvPr id="30" name="Straight Arrow Connector 29"/>
          <p:cNvCxnSpPr>
            <a:stCxn id="9" idx="3"/>
            <a:endCxn id="10" idx="1"/>
          </p:cNvCxnSpPr>
          <p:nvPr/>
        </p:nvCxnSpPr>
        <p:spPr>
          <a:xfrm>
            <a:off x="8467725" y="4152900"/>
            <a:ext cx="428625" cy="0"/>
          </a:xfrm>
          <a:prstGeom prst="straightConnector1">
            <a:avLst/>
          </a:prstGeom>
          <a:ln w="19050">
            <a:solidFill>
              <a:srgbClr val="007D8A"/>
            </a:solidFill>
            <a:tailEnd type="triangle" w="med" len="med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36B8F-1FFD-444D-8AFB-A774F2EC44AF}"/>
              </a:ext>
            </a:extLst>
          </p:cNvPr>
          <p:cNvSpPr>
            <a:spLocks noGrp="1"/>
          </p:cNvSpPr>
          <p:nvPr/>
        </p:nvSpPr>
        <p:spPr>
          <a:xfrm>
            <a:off x="552450" y="4810125"/>
            <a:ext cx="110871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725" b="0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If checks </a:t>
            </a:r>
            <a:r>
              <a:rPr lang="en-US" sz="1725" b="0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fail:</a:t>
            </a:r>
            <a:r>
              <a:rPr sz="1725" b="0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 replace the framing, rebuild, and check once more before saving.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F8A2D9-9EE4-46BB-B76F-0C1931EF7B3C}"/>
              </a:ext>
            </a:extLst>
          </p:cNvPr>
          <p:cNvSpPr>
            <a:spLocks noGrp="1"/>
          </p:cNvSpPr>
          <p:nvPr/>
        </p:nvSpPr>
        <p:spPr>
          <a:xfrm>
            <a:off x="548640" y="5486400"/>
            <a:ext cx="94202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2100" b="1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lang="en-US" sz="2400" b="1" dirty="0">
                <a:solidFill>
                  <a:srgbClr val="007D8A"/>
                </a:solidFill>
                <a:latin typeface="Calibri"/>
                <a:ea typeface="Calibri"/>
                <a:cs typeface="Calibri"/>
              </a:rPr>
              <a:t>OUTPUT:</a:t>
            </a:r>
          </a:p>
          <a:p>
            <a:pPr>
              <a:defRPr sz="2100" b="1">
                <a:solidFill>
                  <a:srgbClr val="202C33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202C33"/>
                </a:solidFill>
                <a:latin typeface="Calibri"/>
                <a:ea typeface="Calibri"/>
                <a:cs typeface="Calibri"/>
              </a:rPr>
              <a:t>Markdown memo for a human reviewer + console 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4E35C4-79F0-44E5-B86F-04B6A441476C}"/>
              </a:ext>
            </a:extLst>
          </p:cNvPr>
          <p:cNvSpPr>
            <a:spLocks noGrp="1"/>
          </p:cNvSpPr>
          <p:nvPr/>
        </p:nvSpPr>
        <p:spPr>
          <a:xfrm>
            <a:off x="552450" y="6105525"/>
            <a:ext cx="110871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500" b="0">
                <a:solidFill>
                  <a:srgbClr val="5269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976"/>
                </a:solidFill>
                <a:latin typeface="Calibri"/>
                <a:ea typeface="Calibri"/>
                <a:cs typeface="Calibri"/>
              </a:rPr>
              <a:t>A passed check confirms citation presence and allowed wording. Human review checks the evidence.</a:t>
            </a:r>
          </a:p>
        </p:txBody>
      </p:sp>
    </p:spTree>
    <p:extLst>
      <p:ext uri="{BB962C8B-B14F-4D97-AF65-F5344CB8AC3E}">
        <p14:creationId xmlns:p14="http://schemas.microsoft.com/office/powerpoint/2010/main" val="961465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4F505C-BE4C-487D-80E7-B3977ADF8B4F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THE CORE SPLIT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5E2ED3-0FDF-4457-8D62-E97007E8CEAA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 dirty="0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What the LLM does</a:t>
            </a:r>
            <a:r>
              <a:rPr lang="en-US" sz="3200" b="1" dirty="0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,</a:t>
            </a:r>
            <a:r>
              <a:rPr sz="3200" b="1" dirty="0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 and what it never touches</a:t>
            </a:r>
            <a:endParaRPr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199AE1C-669F-4497-8DE3-1A6D25F42A91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0B2A3A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FC93CD-2039-422E-9D00-16AC957B736D}"/>
              </a:ext>
            </a:extLst>
          </p:cNvPr>
          <p:cNvSpPr>
            <a:spLocks noGrp="1"/>
          </p:cNvSpPr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 dirty="0">
                <a:solidFill>
                  <a:srgbClr val="9FD0DA"/>
                </a:solidFill>
                <a:latin typeface="Calibri"/>
                <a:ea typeface="Calibri"/>
                <a:cs typeface="Calibri"/>
              </a:rPr>
              <a:t>LLM (agentic)</a:t>
            </a:r>
            <a:r>
              <a:rPr lang="en-US" sz="1600" b="1" dirty="0">
                <a:solidFill>
                  <a:srgbClr val="9FD0DA"/>
                </a:solidFill>
                <a:latin typeface="Calibri"/>
                <a:ea typeface="Calibri"/>
                <a:cs typeface="Calibri"/>
              </a:rPr>
              <a:t> -</a:t>
            </a:r>
            <a:r>
              <a:rPr sz="1600" b="1" dirty="0">
                <a:solidFill>
                  <a:srgbClr val="9FD0DA"/>
                </a:solidFill>
                <a:latin typeface="Calibri"/>
                <a:ea typeface="Calibri"/>
                <a:cs typeface="Calibri"/>
              </a:rPr>
              <a:t> 2 roles only</a:t>
            </a:r>
            <a:endParaRPr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33ADC1C-18F7-4DB1-81C0-D957032322B6}"/>
              </a:ext>
            </a:extLst>
          </p:cNvPr>
          <p:cNvSpPr>
            <a:spLocks noGrp="1"/>
          </p:cNvSpPr>
          <p:nvPr/>
        </p:nvSpPr>
        <p:spPr>
          <a:xfrm>
            <a:off x="822960" y="2377440"/>
            <a:ext cx="4846320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sz="1600">
                <a:solidFill>
                  <a:srgbClr val="E7F2F4"/>
                </a:solidFill>
                <a:latin typeface="Calibri"/>
                <a:ea typeface="Calibri"/>
                <a:cs typeface="Calibri"/>
              </a:rPr>
              <a:t>Chooses the next action from current state (logged with the state it saw)</a:t>
            </a:r>
            <a:endParaRPr sz="160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sz="1600">
                <a:solidFill>
                  <a:srgbClr val="E7F2F4"/>
                </a:solidFill>
                <a:latin typeface="Calibri"/>
                <a:ea typeface="Calibri"/>
                <a:cs typeface="Calibri"/>
              </a:rPr>
              <a:t>Writes one non-factual framing sentence (validated; safe fallback)</a:t>
            </a:r>
            <a:endParaRPr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9A6803D-9E65-46A6-B7E4-4A1DFC03641D}"/>
              </a:ext>
            </a:extLst>
          </p:cNvPr>
          <p:cNvSpPr>
            <a:spLocks noGrp="1"/>
          </p:cNvSpPr>
          <p:nvPr/>
        </p:nvSpPr>
        <p:spPr>
          <a:xfrm>
            <a:off x="6263640" y="1600200"/>
            <a:ext cx="5376672" cy="4434840"/>
          </a:xfrm>
          <a:prstGeom prst="roundRect">
            <a:avLst>
              <a:gd name="adj" fmla="val 1649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339C459-DB67-4779-AEF3-19891D6FAE52}"/>
              </a:ext>
            </a:extLst>
          </p:cNvPr>
          <p:cNvSpPr>
            <a:spLocks noGrp="1"/>
          </p:cNvSpPr>
          <p:nvPr/>
        </p:nvSpPr>
        <p:spPr>
          <a:xfrm>
            <a:off x="6492240" y="18288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Deterministic Python</a:t>
            </a:r>
            <a:r>
              <a:rPr lang="en-US" sz="1500" b="1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:</a:t>
            </a:r>
            <a:r>
              <a:rPr sz="1500" b="1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 everything exact or safety-critical</a:t>
            </a:r>
            <a:endParaRPr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DE879C-7E0A-4A44-AC1F-CAF2D15967C6}"/>
              </a:ext>
            </a:extLst>
          </p:cNvPr>
          <p:cNvSpPr>
            <a:spLocks noGrp="1"/>
          </p:cNvSpPr>
          <p:nvPr/>
        </p:nvSpPr>
        <p:spPr>
          <a:xfrm>
            <a:off x="6492240" y="251460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All counts: serious cases, missingness fractions</a:t>
            </a:r>
            <a:endParaRPr sz="140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Duplicate &amp; version resolution (confirmed vs. likely)</a:t>
            </a:r>
            <a:endParaRPr sz="140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Temporal comparison (counts only, never rates)</a:t>
            </a:r>
            <a:endParaRPr sz="140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Conflict detection (preserves positions)</a:t>
            </a:r>
            <a:endParaRPr sz="140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Which next actions are legal (bounds the agent)</a:t>
            </a:r>
            <a:endParaRPr sz="140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Safety validation of the final memo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449810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FC894D-D921-40FD-AFCC-A0424D974D71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EVIDENCE DISCIPLINE &amp; SAFETY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773598-545B-423E-BC09-5C19F98BC979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Evidence storage and output checks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3E423B3-F893-45CB-88E8-6E0450794C1A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5486400" cy="1353312"/>
          </a:xfrm>
          <a:prstGeom prst="roundRect">
            <a:avLst>
              <a:gd name="adj" fmla="val 5405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461E84-0B8F-4FCB-AF4B-3F7410C573FB}"/>
              </a:ext>
            </a:extLst>
          </p:cNvPr>
          <p:cNvSpPr>
            <a:spLocks noGrp="1"/>
          </p:cNvSpPr>
          <p:nvPr/>
        </p:nvSpPr>
        <p:spPr>
          <a:xfrm>
            <a:off x="777240" y="172821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Three categories kept separate</a:t>
            </a:r>
            <a:endParaRPr sz="14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91EB3A-5BE8-4373-9340-5A6948D2BC6B}"/>
              </a:ext>
            </a:extLst>
          </p:cNvPr>
          <p:cNvSpPr>
            <a:spLocks noGrp="1"/>
          </p:cNvSpPr>
          <p:nvPr/>
        </p:nvSpPr>
        <p:spPr>
          <a:xfrm>
            <a:off x="777240" y="2130552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raw evidence · deterministic analysis · LLM prose </a:t>
            </a:r>
            <a:r>
              <a:rPr lang="en-US" sz="125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- prose is rebuildable from the first two</a:t>
            </a:r>
            <a:endParaRPr lang="en-US" sz="12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9C2D5F-15A6-43FD-942E-249927AE4E1D}"/>
              </a:ext>
            </a:extLst>
          </p:cNvPr>
          <p:cNvSpPr>
            <a:spLocks noGrp="1"/>
          </p:cNvSpPr>
          <p:nvPr/>
        </p:nvSpPr>
        <p:spPr>
          <a:xfrm>
            <a:off x="6245352" y="1600200"/>
            <a:ext cx="5486400" cy="1353312"/>
          </a:xfrm>
          <a:prstGeom prst="roundRect">
            <a:avLst>
              <a:gd name="adj" fmla="val 5405"/>
            </a:avLst>
          </a:prstGeom>
          <a:solidFill>
            <a:srgbClr val="D8ECE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1DC9D10-2C09-4F2B-9A37-1F9990A26620}"/>
              </a:ext>
            </a:extLst>
          </p:cNvPr>
          <p:cNvSpPr>
            <a:spLocks noGrp="1"/>
          </p:cNvSpPr>
          <p:nvPr/>
        </p:nvSpPr>
        <p:spPr>
          <a:xfrm>
            <a:off x="6473952" y="172821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Evidence is immutable</a:t>
            </a:r>
            <a:endParaRPr sz="14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29D6D4-1050-44CC-8AFC-6B6144479292}"/>
              </a:ext>
            </a:extLst>
          </p:cNvPr>
          <p:cNvSpPr>
            <a:spLocks noGrp="1"/>
          </p:cNvSpPr>
          <p:nvPr/>
        </p:nvSpPr>
        <p:spPr>
          <a:xfrm>
            <a:off x="6473952" y="2130552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database triggers block UPDATE/DELETE; a correction is a new row</a:t>
            </a:r>
            <a:endParaRPr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5A7D46C-1B20-47E6-8500-97EB2461FCE6}"/>
              </a:ext>
            </a:extLst>
          </p:cNvPr>
          <p:cNvSpPr>
            <a:spLocks noGrp="1"/>
          </p:cNvSpPr>
          <p:nvPr/>
        </p:nvSpPr>
        <p:spPr>
          <a:xfrm>
            <a:off x="548640" y="3081528"/>
            <a:ext cx="5486400" cy="1353312"/>
          </a:xfrm>
          <a:prstGeom prst="roundRect">
            <a:avLst>
              <a:gd name="adj" fmla="val 5405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7B772C0-77A3-48B1-B629-6D5053574E54}"/>
              </a:ext>
            </a:extLst>
          </p:cNvPr>
          <p:cNvSpPr>
            <a:spLocks noGrp="1"/>
          </p:cNvSpPr>
          <p:nvPr/>
        </p:nvSpPr>
        <p:spPr>
          <a:xfrm>
            <a:off x="777240" y="320954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Every material claim is cited</a:t>
            </a:r>
            <a:endParaRPr sz="14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B9F37ED-5650-4F6D-B698-9326386A1E9C}"/>
              </a:ext>
            </a:extLst>
          </p:cNvPr>
          <p:cNvSpPr>
            <a:spLocks noGrp="1"/>
          </p:cNvSpPr>
          <p:nvPr/>
        </p:nvSpPr>
        <p:spPr>
          <a:xfrm>
            <a:off x="777240" y="3611880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checks citation presence. A reviewer must verify that the source supports the claim</a:t>
            </a:r>
            <a:endParaRPr sz="12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1711502-79A2-4F0E-B735-7FA5E570AFA6}"/>
              </a:ext>
            </a:extLst>
          </p:cNvPr>
          <p:cNvSpPr>
            <a:spLocks noGrp="1"/>
          </p:cNvSpPr>
          <p:nvPr/>
        </p:nvSpPr>
        <p:spPr>
          <a:xfrm>
            <a:off x="6245352" y="3081528"/>
            <a:ext cx="5486400" cy="1353312"/>
          </a:xfrm>
          <a:prstGeom prst="roundRect">
            <a:avLst>
              <a:gd name="adj" fmla="val 5405"/>
            </a:avLst>
          </a:prstGeom>
          <a:solidFill>
            <a:srgbClr val="D8ECE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6DE8A06-B654-47CD-8228-2E6FFD1C75E3}"/>
              </a:ext>
            </a:extLst>
          </p:cNvPr>
          <p:cNvSpPr>
            <a:spLocks noGrp="1"/>
          </p:cNvSpPr>
          <p:nvPr/>
        </p:nvSpPr>
        <p:spPr>
          <a:xfrm>
            <a:off x="6473952" y="320954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Deterministic safety validator</a:t>
            </a:r>
            <a:endParaRPr sz="14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1627B5-8017-48D9-8B74-47A01BC2BC9B}"/>
              </a:ext>
            </a:extLst>
          </p:cNvPr>
          <p:cNvSpPr>
            <a:spLocks noGrp="1"/>
          </p:cNvSpPr>
          <p:nvPr/>
        </p:nvSpPr>
        <p:spPr>
          <a:xfrm>
            <a:off x="6473952" y="3611880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flags prohibited wording. A failed memo still saves with its validation label</a:t>
            </a:r>
            <a:endParaRPr sz="12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07E489D-C300-4F3F-973F-0E3605495451}"/>
              </a:ext>
            </a:extLst>
          </p:cNvPr>
          <p:cNvSpPr>
            <a:spLocks noGrp="1"/>
          </p:cNvSpPr>
          <p:nvPr/>
        </p:nvSpPr>
        <p:spPr>
          <a:xfrm>
            <a:off x="548640" y="4562856"/>
            <a:ext cx="5486400" cy="1353312"/>
          </a:xfrm>
          <a:prstGeom prst="roundRect">
            <a:avLst>
              <a:gd name="adj" fmla="val 5405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040DFD4-1D45-4A26-9BFD-497E92A2B56C}"/>
              </a:ext>
            </a:extLst>
          </p:cNvPr>
          <p:cNvSpPr>
            <a:spLocks noGrp="1"/>
          </p:cNvSpPr>
          <p:nvPr/>
        </p:nvSpPr>
        <p:spPr>
          <a:xfrm>
            <a:off x="777240" y="469087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Untrusted input is fenced</a:t>
            </a:r>
            <a:endParaRPr sz="14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A86F566-383C-4586-BBCC-ACE1ED0906FD}"/>
              </a:ext>
            </a:extLst>
          </p:cNvPr>
          <p:cNvSpPr>
            <a:spLocks noGrp="1"/>
          </p:cNvSpPr>
          <p:nvPr/>
        </p:nvSpPr>
        <p:spPr>
          <a:xfrm>
            <a:off x="777240" y="5093208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retrieved text enters the model only inside delimited DATA blocks</a:t>
            </a:r>
            <a:endParaRPr sz="125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8E8D32C-A723-4ECC-AA3A-6CFCD4B579EA}"/>
              </a:ext>
            </a:extLst>
          </p:cNvPr>
          <p:cNvSpPr>
            <a:spLocks noGrp="1"/>
          </p:cNvSpPr>
          <p:nvPr/>
        </p:nvSpPr>
        <p:spPr>
          <a:xfrm>
            <a:off x="6245352" y="4562856"/>
            <a:ext cx="5486400" cy="1353312"/>
          </a:xfrm>
          <a:prstGeom prst="roundRect">
            <a:avLst>
              <a:gd name="adj" fmla="val 5405"/>
            </a:avLst>
          </a:prstGeom>
          <a:solidFill>
            <a:srgbClr val="D8ECE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B3B597E-8F1C-44AB-8512-FDB1343BF210}"/>
              </a:ext>
            </a:extLst>
          </p:cNvPr>
          <p:cNvSpPr>
            <a:spLocks noGrp="1"/>
          </p:cNvSpPr>
          <p:nvPr/>
        </p:nvSpPr>
        <p:spPr>
          <a:xfrm>
            <a:off x="6473952" y="469087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Conflicts preserved</a:t>
            </a:r>
            <a:endParaRPr sz="14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45ACFB4-9F19-413C-811E-96282D76FBA2}"/>
              </a:ext>
            </a:extLst>
          </p:cNvPr>
          <p:cNvSpPr>
            <a:spLocks noGrp="1"/>
          </p:cNvSpPr>
          <p:nvPr/>
        </p:nvSpPr>
        <p:spPr>
          <a:xfrm>
            <a:off x="6473952" y="5093208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disagreement kept with dates + limitations; never forced to consensus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66693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746B2B-14DF-4A8A-BF0C-EB901688D7F0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ENGINEERED, NOT A PROMPT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8CC494-ED88-4B45-9DD7-7219D0673903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Retries, saved state, and model output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9461E6-0847-4D0C-92EA-DB21B652914D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FBC7EF-E18F-40C6-BF03-B3BA87560D98}"/>
              </a:ext>
            </a:extLst>
          </p:cNvPr>
          <p:cNvSpPr>
            <a:spLocks noGrp="1"/>
          </p:cNvSpPr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Tool failures</a:t>
            </a:r>
            <a:endParaRPr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D1BF15-C93F-4FB2-914D-D3ECA566E031}"/>
              </a:ext>
            </a:extLst>
          </p:cNvPr>
          <p:cNvSpPr>
            <a:spLocks noGrp="1"/>
          </p:cNvSpPr>
          <p:nvPr/>
        </p:nvSpPr>
        <p:spPr>
          <a:xfrm>
            <a:off x="777240" y="2514600"/>
            <a:ext cx="310896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timeouts / 5xx / 429 → bounded retry + backoff</a:t>
            </a:r>
            <a:endParaRPr sz="140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429 &amp; 503 honor the server's Retry-After</a:t>
            </a:r>
            <a:endParaRPr sz="140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empty result is a valid answer, not a crash</a:t>
            </a:r>
            <a:endParaRPr sz="1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E462A08-8E21-4BE6-A669-9B29E6594FD0}"/>
              </a:ext>
            </a:extLst>
          </p:cNvPr>
          <p:cNvSpPr>
            <a:spLocks noGrp="1"/>
          </p:cNvSpPr>
          <p:nvPr/>
        </p:nvSpPr>
        <p:spPr>
          <a:xfrm>
            <a:off x="4306824" y="16916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906DB5-45D7-4817-86CE-F3DC1A6B9889}"/>
              </a:ext>
            </a:extLst>
          </p:cNvPr>
          <p:cNvSpPr>
            <a:spLocks noGrp="1"/>
          </p:cNvSpPr>
          <p:nvPr/>
        </p:nvSpPr>
        <p:spPr>
          <a:xfrm>
            <a:off x="4535424" y="19202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Saved state and cache</a:t>
            </a:r>
            <a:endParaRPr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D8457A5-7C19-4432-96FA-6A576327418B}"/>
              </a:ext>
            </a:extLst>
          </p:cNvPr>
          <p:cNvSpPr>
            <a:spLocks noGrp="1"/>
          </p:cNvSpPr>
          <p:nvPr/>
        </p:nvSpPr>
        <p:spPr>
          <a:xfrm>
            <a:off x="4535424" y="2514600"/>
            <a:ext cx="310896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state persisted at every step</a:t>
            </a:r>
            <a:endParaRPr sz="140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storage replay is tested. Full graph resume is not wired into the CLI</a:t>
            </a:r>
            <a:endParaRPr sz="140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cache serves repeated requests</a:t>
            </a:r>
            <a:endParaRPr sz="1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4AE0BD1-5B3D-4F12-920B-F7667AE74AF3}"/>
              </a:ext>
            </a:extLst>
          </p:cNvPr>
          <p:cNvSpPr>
            <a:spLocks noGrp="1"/>
          </p:cNvSpPr>
          <p:nvPr/>
        </p:nvSpPr>
        <p:spPr>
          <a:xfrm>
            <a:off x="8065008" y="16916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F4CFAE-A074-4CD6-A998-CFE7A0F12075}"/>
              </a:ext>
            </a:extLst>
          </p:cNvPr>
          <p:cNvSpPr>
            <a:spLocks noGrp="1"/>
          </p:cNvSpPr>
          <p:nvPr/>
        </p:nvSpPr>
        <p:spPr>
          <a:xfrm>
            <a:off x="8293608" y="19202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Unreliable model JSON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D8BD9C5-ECB3-4F8E-AE97-98AA7BBE501A}"/>
              </a:ext>
            </a:extLst>
          </p:cNvPr>
          <p:cNvSpPr>
            <a:spLocks noGrp="1"/>
          </p:cNvSpPr>
          <p:nvPr/>
        </p:nvSpPr>
        <p:spPr>
          <a:xfrm>
            <a:off x="8293608" y="2514600"/>
            <a:ext cx="310896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validate every output (Pydantic)</a:t>
            </a:r>
            <a:endParaRPr sz="140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one bounded re-ask on failure</a:t>
            </a:r>
            <a:endParaRPr sz="140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then fixed fallback for invalid JSON. Connection errors can still stop the run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57979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8BA57C-EDC9-4B5A-9124-8F76C5B88BB4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SCENARIO A</a:t>
            </a:r>
            <a:r>
              <a:rPr lang="en-US" sz="1200" b="1" spc="200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:</a:t>
            </a:r>
            <a:r>
              <a:rPr sz="1200" b="1" spc="200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 EVIDENCE CHANGES</a:t>
            </a:r>
            <a:endParaRPr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26C7B9-6A11-49DB-8422-0465160D3A34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Selective recompute on synthetic evidence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2E3C6E-9A8C-425B-B043-C2F34DF57596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0D7AB6-E3EA-4D97-B5C0-88380BD269F6}"/>
              </a:ext>
            </a:extLst>
          </p:cNvPr>
          <p:cNvSpPr>
            <a:spLocks noGrp="1"/>
          </p:cNvSpPr>
          <p:nvPr/>
        </p:nvSpPr>
        <p:spPr>
          <a:xfrm>
            <a:off x="548640" y="1856232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0E6E7E"/>
                </a:solidFill>
                <a:latin typeface="Cambria"/>
                <a:ea typeface="Cambria"/>
                <a:cs typeface="Cambria"/>
              </a:rPr>
              <a:t>8</a:t>
            </a:r>
            <a:endParaRPr sz="4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15FCA0-4CC9-45E9-9322-17CDEB87DC53}"/>
              </a:ext>
            </a:extLst>
          </p:cNvPr>
          <p:cNvSpPr>
            <a:spLocks noGrp="1"/>
          </p:cNvSpPr>
          <p:nvPr/>
        </p:nvSpPr>
        <p:spPr>
          <a:xfrm>
            <a:off x="658368" y="2715768"/>
            <a:ext cx="25237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analysis + memo nodes recomputed</a:t>
            </a:r>
            <a:endParaRPr sz="12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272FCFB-9A62-42C6-9255-78A5BF301081}"/>
              </a:ext>
            </a:extLst>
          </p:cNvPr>
          <p:cNvSpPr>
            <a:spLocks noGrp="1"/>
          </p:cNvSpPr>
          <p:nvPr/>
        </p:nvSpPr>
        <p:spPr>
          <a:xfrm>
            <a:off x="3474720" y="16916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4565A55-29CC-4CDD-A9E8-5D70929FD2CB}"/>
              </a:ext>
            </a:extLst>
          </p:cNvPr>
          <p:cNvSpPr>
            <a:spLocks noGrp="1"/>
          </p:cNvSpPr>
          <p:nvPr/>
        </p:nvSpPr>
        <p:spPr>
          <a:xfrm>
            <a:off x="3474720" y="1856232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0E6E7E"/>
                </a:solidFill>
                <a:latin typeface="Cambria"/>
                <a:ea typeface="Cambria"/>
                <a:cs typeface="Cambria"/>
              </a:rPr>
              <a:t>11</a:t>
            </a:r>
            <a:endParaRPr sz="4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14294F0-0841-45D5-874F-A4FBE3CA7480}"/>
              </a:ext>
            </a:extLst>
          </p:cNvPr>
          <p:cNvSpPr>
            <a:spLocks noGrp="1"/>
          </p:cNvSpPr>
          <p:nvPr/>
        </p:nvSpPr>
        <p:spPr>
          <a:xfrm>
            <a:off x="3584448" y="2715768"/>
            <a:ext cx="25237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nodes reused verbatim</a:t>
            </a:r>
            <a:endParaRPr sz="12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97C6BBE-4CFC-4F4B-8DCA-7F3276C3258E}"/>
              </a:ext>
            </a:extLst>
          </p:cNvPr>
          <p:cNvSpPr>
            <a:spLocks noGrp="1"/>
          </p:cNvSpPr>
          <p:nvPr/>
        </p:nvSpPr>
        <p:spPr>
          <a:xfrm>
            <a:off x="6400800" y="16916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806697-620E-4AE1-9E72-E4174B138F5D}"/>
              </a:ext>
            </a:extLst>
          </p:cNvPr>
          <p:cNvSpPr>
            <a:spLocks noGrp="1"/>
          </p:cNvSpPr>
          <p:nvPr/>
        </p:nvSpPr>
        <p:spPr>
          <a:xfrm>
            <a:off x="6400800" y="1856232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0E6E7E"/>
                </a:solidFill>
                <a:latin typeface="Cambria"/>
                <a:ea typeface="Cambria"/>
                <a:cs typeface="Cambria"/>
              </a:rPr>
              <a:t>5 to 6</a:t>
            </a:r>
            <a:endParaRPr sz="4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CE1D3C0-AC7C-4FD1-8183-0CA8B37FC623}"/>
              </a:ext>
            </a:extLst>
          </p:cNvPr>
          <p:cNvSpPr>
            <a:spLocks noGrp="1"/>
          </p:cNvSpPr>
          <p:nvPr/>
        </p:nvSpPr>
        <p:spPr>
          <a:xfrm>
            <a:off x="6510528" y="2715768"/>
            <a:ext cx="25237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serious count, before → after</a:t>
            </a:r>
            <a:endParaRPr sz="12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CC1092B-DD84-4697-8C08-CCB9DC0991AD}"/>
              </a:ext>
            </a:extLst>
          </p:cNvPr>
          <p:cNvSpPr>
            <a:spLocks noGrp="1"/>
          </p:cNvSpPr>
          <p:nvPr/>
        </p:nvSpPr>
        <p:spPr>
          <a:xfrm>
            <a:off x="9326880" y="169164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2271A2F-06A9-47FF-A506-8B099E8B076F}"/>
              </a:ext>
            </a:extLst>
          </p:cNvPr>
          <p:cNvSpPr>
            <a:spLocks noGrp="1"/>
          </p:cNvSpPr>
          <p:nvPr/>
        </p:nvSpPr>
        <p:spPr>
          <a:xfrm>
            <a:off x="9326880" y="1856232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0E6E7E"/>
                </a:solidFill>
                <a:latin typeface="Cambria"/>
                <a:ea typeface="Cambria"/>
                <a:cs typeface="Cambria"/>
              </a:rPr>
              <a:t>✓</a:t>
            </a:r>
            <a:endParaRPr sz="4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80764B-42E6-4407-BE27-E20B34BE8309}"/>
              </a:ext>
            </a:extLst>
          </p:cNvPr>
          <p:cNvSpPr>
            <a:spLocks noGrp="1"/>
          </p:cNvSpPr>
          <p:nvPr/>
        </p:nvSpPr>
        <p:spPr>
          <a:xfrm>
            <a:off x="9436608" y="2715768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prior run preserved</a:t>
            </a:r>
            <a:endParaRPr sz="12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DA31FC9-6752-47D4-B144-E20C4AD2E92D}"/>
              </a:ext>
            </a:extLst>
          </p:cNvPr>
          <p:cNvSpPr>
            <a:spLocks noGrp="1"/>
          </p:cNvSpPr>
          <p:nvPr/>
        </p:nvSpPr>
        <p:spPr>
          <a:xfrm>
            <a:off x="548640" y="3566160"/>
            <a:ext cx="11091672" cy="2468880"/>
          </a:xfrm>
          <a:prstGeom prst="roundRect">
            <a:avLst>
              <a:gd name="adj" fmla="val 2963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FBCC23C-6A3F-42B2-A19E-C2C196D0D53C}"/>
              </a:ext>
            </a:extLst>
          </p:cNvPr>
          <p:cNvSpPr>
            <a:spLocks noGrp="1"/>
          </p:cNvSpPr>
          <p:nvPr/>
        </p:nvSpPr>
        <p:spPr>
          <a:xfrm>
            <a:off x="822960" y="3794760"/>
            <a:ext cx="10515600" cy="210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5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A corrected follow-up version of one case arrives → only its evidence 'slot' changes.</a:t>
            </a:r>
            <a:endParaRPr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5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The dependency graph walks evidence → analysis → memo and recomputes only what's affected.</a:t>
            </a:r>
            <a:endParaRPr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5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Short-circuit: an analysis recomputed to the SAME output stops the cascade</a:t>
            </a:r>
            <a:r>
              <a:rPr lang="en-US" sz="15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5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 its memo section is reused.</a:t>
            </a:r>
            <a:endParaRPr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5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The earlier run's memo, analyses, and graph stay in the database</a:t>
            </a:r>
            <a:r>
              <a:rPr lang="en-US" sz="15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5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 a full audit trail.</a:t>
            </a: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726850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21AA3F-AA6C-4372-875E-C96251C3FD4E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SCENARIO B</a:t>
            </a:r>
            <a:r>
              <a:rPr lang="en-US" sz="1200" b="1" spc="200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:</a:t>
            </a:r>
            <a:r>
              <a:rPr sz="1200" b="1" spc="200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 CONFLICTING EVIDENCE</a:t>
            </a:r>
            <a:endParaRPr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0D9DD2-3422-4399-9A8F-B74552E6ED3B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Conflicting sources in the synthetic demo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93CB4E-DC76-4F21-AA65-725299A930F1}"/>
              </a:ext>
            </a:extLst>
          </p:cNvPr>
          <p:cNvSpPr>
            <a:spLocks noGrp="1"/>
          </p:cNvSpPr>
          <p:nvPr/>
        </p:nvSpPr>
        <p:spPr>
          <a:xfrm>
            <a:off x="548640" y="17373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4387757-2AD3-4731-82C1-3425AC057EDD}"/>
              </a:ext>
            </a:extLst>
          </p:cNvPr>
          <p:cNvSpPr>
            <a:spLocks noGrp="1"/>
          </p:cNvSpPr>
          <p:nvPr/>
        </p:nvSpPr>
        <p:spPr>
          <a:xfrm>
            <a:off x="777240" y="1737360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FAERS</a:t>
            </a:r>
            <a:endParaRPr sz="1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BC0068-A0FA-4A6B-A473-08010D82905C}"/>
              </a:ext>
            </a:extLst>
          </p:cNvPr>
          <p:cNvSpPr>
            <a:spLocks noGrp="1"/>
          </p:cNvSpPr>
          <p:nvPr/>
        </p:nvSpPr>
        <p:spPr>
          <a:xfrm>
            <a:off x="2834640" y="173736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A spontaneous-report signal</a:t>
            </a:r>
            <a:r>
              <a:rPr lang="en-US" sz="145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45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 serious cases, including deaths</a:t>
            </a:r>
            <a:endParaRPr sz="14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96F4209-4280-46F8-8B9D-6744BFF70E67}"/>
              </a:ext>
            </a:extLst>
          </p:cNvPr>
          <p:cNvSpPr>
            <a:spLocks noGrp="1"/>
          </p:cNvSpPr>
          <p:nvPr/>
        </p:nvSpPr>
        <p:spPr>
          <a:xfrm>
            <a:off x="548640" y="29260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DDBF9E-51FE-47A4-992D-470C4D56AAA1}"/>
              </a:ext>
            </a:extLst>
          </p:cNvPr>
          <p:cNvSpPr>
            <a:spLocks noGrp="1"/>
          </p:cNvSpPr>
          <p:nvPr/>
        </p:nvSpPr>
        <p:spPr>
          <a:xfrm>
            <a:off x="777240" y="2926080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Label</a:t>
            </a:r>
            <a:endParaRPr sz="1700" dirty="0">
              <a:solidFill>
                <a:srgbClr val="0E6E7E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E5CD584-5514-406A-B8EA-1FD1EC9ABBD5}"/>
              </a:ext>
            </a:extLst>
          </p:cNvPr>
          <p:cNvSpPr>
            <a:spLocks noGrp="1"/>
          </p:cNvSpPr>
          <p:nvPr/>
        </p:nvSpPr>
        <p:spPr>
          <a:xfrm>
            <a:off x="2834640" y="292608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Synthetic label text describes the events (effective 2020-03-04)</a:t>
            </a:r>
            <a:endParaRPr sz="14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A5087F3-6182-470E-BB3B-C94903901598}"/>
              </a:ext>
            </a:extLst>
          </p:cNvPr>
          <p:cNvSpPr>
            <a:spLocks noGrp="1"/>
          </p:cNvSpPr>
          <p:nvPr/>
        </p:nvSpPr>
        <p:spPr>
          <a:xfrm>
            <a:off x="548640" y="41148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83B40C-AAB7-4258-9AA1-ACBF62F5FE28}"/>
              </a:ext>
            </a:extLst>
          </p:cNvPr>
          <p:cNvSpPr>
            <a:spLocks noGrp="1"/>
          </p:cNvSpPr>
          <p:nvPr/>
        </p:nvSpPr>
        <p:spPr>
          <a:xfrm>
            <a:off x="777240" y="4114800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Literature</a:t>
            </a:r>
            <a:endParaRPr sz="1700" dirty="0">
              <a:solidFill>
                <a:srgbClr val="0E6E7E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0468FD-7A0B-4D2A-B86C-4EBC2A78789A}"/>
              </a:ext>
            </a:extLst>
          </p:cNvPr>
          <p:cNvSpPr>
            <a:spLocks noGrp="1"/>
          </p:cNvSpPr>
          <p:nvPr/>
        </p:nvSpPr>
        <p:spPr>
          <a:xfrm>
            <a:off x="2834640" y="41148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One study: no increased risk vs. inhaled steroids · one case series: a signal</a:t>
            </a:r>
            <a:endParaRPr sz="14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4F3EACD-AA0C-4ADA-A5DE-ACFD2148E85F}"/>
              </a:ext>
            </a:extLst>
          </p:cNvPr>
          <p:cNvSpPr>
            <a:spLocks noGrp="1"/>
          </p:cNvSpPr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F3E0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0B6A695-8D9E-4467-80DE-EA8BF49DE9A8}"/>
              </a:ext>
            </a:extLst>
          </p:cNvPr>
          <p:cNvSpPr>
            <a:spLocks noGrp="1"/>
          </p:cNvSpPr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 i="1" dirty="0">
                <a:solidFill>
                  <a:srgbClr val="C9880A"/>
                </a:solidFill>
                <a:latin typeface="Calibri"/>
                <a:ea typeface="Calibri"/>
                <a:cs typeface="Calibri"/>
              </a:rPr>
              <a:t>Result: marked UNRESOLVED </a:t>
            </a:r>
            <a:r>
              <a:rPr lang="en-US" sz="1450" b="1" i="1" dirty="0">
                <a:solidFill>
                  <a:srgbClr val="C9880A"/>
                </a:solidFill>
                <a:latin typeface="Calibri"/>
                <a:ea typeface="Calibri"/>
                <a:cs typeface="Calibri"/>
              </a:rPr>
              <a:t>-</a:t>
            </a:r>
            <a:r>
              <a:rPr sz="1450" b="1" i="1" dirty="0">
                <a:solidFill>
                  <a:srgbClr val="C9880A"/>
                </a:solidFill>
                <a:latin typeface="Calibri"/>
                <a:ea typeface="Calibri"/>
                <a:cs typeface="Calibri"/>
              </a:rPr>
              <a:t> every position kept with its date and limitations; nothing dropped, no false certainty.</a:t>
            </a:r>
            <a:endParaRPr sz="1450" dirty="0"/>
          </a:p>
        </p:txBody>
      </p:sp>
    </p:spTree>
    <p:extLst>
      <p:ext uri="{BB962C8B-B14F-4D97-AF65-F5344CB8AC3E}">
        <p14:creationId xmlns:p14="http://schemas.microsoft.com/office/powerpoint/2010/main" val="22918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968A2D-3CBF-4362-8067-14742330AC42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SCENARIO C</a:t>
            </a:r>
            <a:r>
              <a:rPr lang="en-US" sz="1200" b="1" spc="200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:</a:t>
            </a:r>
            <a:r>
              <a:rPr sz="1200" b="1" spc="200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 CONSTRAINED RUN</a:t>
            </a:r>
            <a:endParaRPr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F22AE3-00EE-45D3-A89D-6BFE9108FE69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Token savings in the synthetic evaluation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5CE253-A38B-490D-B5E7-A7F15C4F0192}"/>
              </a:ext>
            </a:extLst>
          </p:cNvPr>
          <p:cNvSpPr>
            <a:spLocks noGrp="1"/>
          </p:cNvSpPr>
          <p:nvPr/>
        </p:nvSpPr>
        <p:spPr>
          <a:xfrm>
            <a:off x="548640" y="173736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B80F24-1129-4D1F-B120-3A541390D1E9}"/>
              </a:ext>
            </a:extLst>
          </p:cNvPr>
          <p:cNvSpPr>
            <a:spLocks noGrp="1"/>
          </p:cNvSpPr>
          <p:nvPr/>
        </p:nvSpPr>
        <p:spPr>
          <a:xfrm>
            <a:off x="548640" y="1901952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0E6E7E"/>
                </a:solidFill>
                <a:latin typeface="Cambria"/>
                <a:ea typeface="Cambria"/>
                <a:cs typeface="Cambria"/>
              </a:rPr>
              <a:t>1851→1042</a:t>
            </a:r>
            <a:endParaRPr sz="4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85B69B-555D-45F7-96F1-393F0D3AE8D5}"/>
              </a:ext>
            </a:extLst>
          </p:cNvPr>
          <p:cNvSpPr>
            <a:spLocks noGrp="1"/>
          </p:cNvSpPr>
          <p:nvPr/>
        </p:nvSpPr>
        <p:spPr>
          <a:xfrm>
            <a:off x="658368" y="2761488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model tokens</a:t>
            </a:r>
            <a:endParaRPr sz="12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183CFF5-2419-4998-B992-02A24F74A0AA}"/>
              </a:ext>
            </a:extLst>
          </p:cNvPr>
          <p:cNvSpPr>
            <a:spLocks noGrp="1"/>
          </p:cNvSpPr>
          <p:nvPr/>
        </p:nvSpPr>
        <p:spPr>
          <a:xfrm>
            <a:off x="4114800" y="173736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40CC88-DEE6-4142-AC2E-5ABA5869A208}"/>
              </a:ext>
            </a:extLst>
          </p:cNvPr>
          <p:cNvSpPr>
            <a:spLocks noGrp="1"/>
          </p:cNvSpPr>
          <p:nvPr/>
        </p:nvSpPr>
        <p:spPr>
          <a:xfrm>
            <a:off x="4114800" y="1901952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0E6E7E"/>
                </a:solidFill>
                <a:latin typeface="Cambria"/>
                <a:ea typeface="Cambria"/>
                <a:cs typeface="Cambria"/>
              </a:rPr>
              <a:t>43.7%</a:t>
            </a:r>
            <a:endParaRPr sz="4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0BD0B28-86C0-4614-A23D-06FFE679C489}"/>
              </a:ext>
            </a:extLst>
          </p:cNvPr>
          <p:cNvSpPr>
            <a:spLocks noGrp="1"/>
          </p:cNvSpPr>
          <p:nvPr/>
        </p:nvSpPr>
        <p:spPr>
          <a:xfrm>
            <a:off x="4224528" y="2761488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fewer tokens</a:t>
            </a:r>
            <a:endParaRPr sz="12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724FBC2-8C33-43B7-ACC4-6D74DAB46B89}"/>
              </a:ext>
            </a:extLst>
          </p:cNvPr>
          <p:cNvSpPr>
            <a:spLocks noGrp="1"/>
          </p:cNvSpPr>
          <p:nvPr/>
        </p:nvSpPr>
        <p:spPr>
          <a:xfrm>
            <a:off x="7680960" y="1737360"/>
            <a:ext cx="39593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3398AEE-6FA6-49E2-A025-DDC1965E045F}"/>
              </a:ext>
            </a:extLst>
          </p:cNvPr>
          <p:cNvSpPr>
            <a:spLocks noGrp="1"/>
          </p:cNvSpPr>
          <p:nvPr/>
        </p:nvSpPr>
        <p:spPr>
          <a:xfrm>
            <a:off x="7680960" y="1901952"/>
            <a:ext cx="3959352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0E6E7E"/>
                </a:solidFill>
                <a:latin typeface="Cambria"/>
                <a:ea typeface="Cambria"/>
                <a:cs typeface="Cambria"/>
              </a:rPr>
              <a:t>held</a:t>
            </a:r>
            <a:endParaRPr sz="4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D8A232-1F73-48CA-8C10-62046BE41309}"/>
              </a:ext>
            </a:extLst>
          </p:cNvPr>
          <p:cNvSpPr>
            <a:spLocks noGrp="1"/>
          </p:cNvSpPr>
          <p:nvPr/>
        </p:nvSpPr>
        <p:spPr>
          <a:xfrm>
            <a:off x="7790688" y="2761488"/>
            <a:ext cx="373989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quality floor</a:t>
            </a:r>
            <a:endParaRPr sz="12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B5CBF5-6AD4-43B1-AA9B-14B88C843E49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7ABAB86-A446-4143-B2D3-C5E01AFDCED5}"/>
              </a:ext>
            </a:extLst>
          </p:cNvPr>
          <p:cNvSpPr>
            <a:spLocks noGrp="1"/>
          </p:cNvSpPr>
          <p:nvPr/>
        </p:nvSpPr>
        <p:spPr>
          <a:xfrm>
            <a:off x="777240" y="3794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How the cost dropped</a:t>
            </a:r>
            <a:endParaRPr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D144CC-FF68-41AD-80C4-5447E79DED48}"/>
              </a:ext>
            </a:extLst>
          </p:cNvPr>
          <p:cNvSpPr>
            <a:spLocks noGrp="1"/>
          </p:cNvSpPr>
          <p:nvPr/>
        </p:nvSpPr>
        <p:spPr>
          <a:xfrm>
            <a:off x="777240" y="4251960"/>
            <a:ext cx="502920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framing moved into deterministic logic</a:t>
            </a:r>
            <a:endParaRPr sz="140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fewer selected case entries (5 to 2)</a:t>
            </a:r>
            <a:endParaRPr sz="140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budget guard curtails late LLM decisions</a:t>
            </a:r>
            <a:endParaRPr sz="14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D354FCD-F005-4C66-AFF9-4065EF8144A4}"/>
              </a:ext>
            </a:extLst>
          </p:cNvPr>
          <p:cNvSpPr>
            <a:spLocks noGrp="1"/>
          </p:cNvSpPr>
          <p:nvPr/>
        </p:nvSpPr>
        <p:spPr>
          <a:xfrm>
            <a:off x="6263640" y="3611880"/>
            <a:ext cx="5376672" cy="2468880"/>
          </a:xfrm>
          <a:prstGeom prst="roundRect">
            <a:avLst>
              <a:gd name="adj" fmla="val 2963"/>
            </a:avLst>
          </a:prstGeom>
          <a:solidFill>
            <a:srgbClr val="D8ECE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7BAA2A0-E1DD-48D2-80A3-2448E987FFC2}"/>
              </a:ext>
            </a:extLst>
          </p:cNvPr>
          <p:cNvSpPr>
            <a:spLocks noGrp="1"/>
          </p:cNvSpPr>
          <p:nvPr/>
        </p:nvSpPr>
        <p:spPr>
          <a:xfrm>
            <a:off x="6492240" y="37947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Checks reported by the evaluation</a:t>
            </a:r>
            <a:endParaRPr sz="15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460C306-6A63-4819-89A1-27306D5206E9}"/>
              </a:ext>
            </a:extLst>
          </p:cNvPr>
          <p:cNvSpPr>
            <a:spLocks noGrp="1"/>
          </p:cNvSpPr>
          <p:nvPr/>
        </p:nvSpPr>
        <p:spPr>
          <a:xfrm>
            <a:off x="6492240" y="4251960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Factual claims carry references</a:t>
            </a:r>
            <a:endParaRPr sz="14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All 14 sections remain present</a:t>
            </a:r>
            <a:endParaRPr sz="14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The language scanner passes</a:t>
            </a:r>
            <a:endParaRPr sz="14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0B2A3A"/>
                </a:solidFill>
                <a:latin typeface="Calibri"/>
                <a:ea typeface="Calibri"/>
                <a:cs typeface="Calibri"/>
              </a:rPr>
              <a:t>These checks do not prove factual accuracy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7939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9FA54B-0FC5-4F09-9818-3ECA06B48051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MEASUREMENTS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44A02B-709A-458C-9A69-63FDE0920355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Recorded evaluation results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C11D40-61BD-4151-AB43-09193D4824CE}"/>
              </a:ext>
            </a:extLst>
          </p:cNvPr>
          <p:cNvSpPr>
            <a:spLocks noGrp="1"/>
          </p:cNvSpPr>
          <p:nvPr/>
        </p:nvSpPr>
        <p:spPr>
          <a:xfrm>
            <a:off x="548640" y="17373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87E299-FCF8-45F7-A1AF-B3CDF654EF06}"/>
              </a:ext>
            </a:extLst>
          </p:cNvPr>
          <p:cNvSpPr>
            <a:spLocks noGrp="1"/>
          </p:cNvSpPr>
          <p:nvPr/>
        </p:nvSpPr>
        <p:spPr>
          <a:xfrm>
            <a:off x="548640" y="1901952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0E6E7E"/>
                </a:solidFill>
                <a:latin typeface="Cambria"/>
                <a:ea typeface="Cambria"/>
                <a:cs typeface="Cambria"/>
              </a:rPr>
              <a:t>41.7s</a:t>
            </a:r>
            <a:endParaRPr sz="4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F237601-FD62-4B5D-88FD-12650CEA4C48}"/>
              </a:ext>
            </a:extLst>
          </p:cNvPr>
          <p:cNvSpPr>
            <a:spLocks noGrp="1"/>
          </p:cNvSpPr>
          <p:nvPr/>
        </p:nvSpPr>
        <p:spPr>
          <a:xfrm>
            <a:off x="658368" y="2761488"/>
            <a:ext cx="25237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cold latency</a:t>
            </a:r>
            <a:endParaRPr sz="12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176E674-71C9-4CA0-9B7A-C6A7870E58FD}"/>
              </a:ext>
            </a:extLst>
          </p:cNvPr>
          <p:cNvSpPr>
            <a:spLocks noGrp="1"/>
          </p:cNvSpPr>
          <p:nvPr/>
        </p:nvSpPr>
        <p:spPr>
          <a:xfrm>
            <a:off x="3474720" y="17373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1064016-5B3F-4473-94EE-47462752D7E5}"/>
              </a:ext>
            </a:extLst>
          </p:cNvPr>
          <p:cNvSpPr>
            <a:spLocks noGrp="1"/>
          </p:cNvSpPr>
          <p:nvPr/>
        </p:nvSpPr>
        <p:spPr>
          <a:xfrm>
            <a:off x="3474720" y="1901952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0E6E7E"/>
                </a:solidFill>
                <a:latin typeface="Cambria"/>
                <a:ea typeface="Cambria"/>
                <a:cs typeface="Cambria"/>
              </a:rPr>
              <a:t>11.0s</a:t>
            </a:r>
            <a:endParaRPr sz="4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403EDC6-D447-44DB-A7B8-B002AC185660}"/>
              </a:ext>
            </a:extLst>
          </p:cNvPr>
          <p:cNvSpPr>
            <a:spLocks noGrp="1"/>
          </p:cNvSpPr>
          <p:nvPr/>
        </p:nvSpPr>
        <p:spPr>
          <a:xfrm>
            <a:off x="3584448" y="2761488"/>
            <a:ext cx="25237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warm p50</a:t>
            </a:r>
            <a:endParaRPr sz="12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5DDB793-1669-4F21-95B6-48941DCC52BC}"/>
              </a:ext>
            </a:extLst>
          </p:cNvPr>
          <p:cNvSpPr>
            <a:spLocks noGrp="1"/>
          </p:cNvSpPr>
          <p:nvPr/>
        </p:nvSpPr>
        <p:spPr>
          <a:xfrm>
            <a:off x="6400800" y="17373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47DF3F4-E795-4897-A0E6-E6FC1593DD71}"/>
              </a:ext>
            </a:extLst>
          </p:cNvPr>
          <p:cNvSpPr>
            <a:spLocks noGrp="1"/>
          </p:cNvSpPr>
          <p:nvPr/>
        </p:nvSpPr>
        <p:spPr>
          <a:xfrm>
            <a:off x="6400800" y="1901952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0E6E7E"/>
                </a:solidFill>
                <a:latin typeface="Cambria"/>
                <a:ea typeface="Cambria"/>
                <a:cs typeface="Cambria"/>
              </a:rPr>
              <a:t>0 / 0</a:t>
            </a:r>
            <a:endParaRPr sz="4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5DA5A3B-1820-4CAB-8F38-FC0699A74BE8}"/>
              </a:ext>
            </a:extLst>
          </p:cNvPr>
          <p:cNvSpPr>
            <a:spLocks noGrp="1"/>
          </p:cNvSpPr>
          <p:nvPr/>
        </p:nvSpPr>
        <p:spPr>
          <a:xfrm>
            <a:off x="6510528" y="2761488"/>
            <a:ext cx="25237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uncited claims / wording flags</a:t>
            </a:r>
            <a:endParaRPr sz="12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7C5B762-361D-4853-88FD-A3C286D8461D}"/>
              </a:ext>
            </a:extLst>
          </p:cNvPr>
          <p:cNvSpPr>
            <a:spLocks noGrp="1"/>
          </p:cNvSpPr>
          <p:nvPr/>
        </p:nvSpPr>
        <p:spPr>
          <a:xfrm>
            <a:off x="9326880" y="173736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9E85690-5062-4230-9D2A-ADDDC35F7D9E}"/>
              </a:ext>
            </a:extLst>
          </p:cNvPr>
          <p:cNvSpPr>
            <a:spLocks noGrp="1"/>
          </p:cNvSpPr>
          <p:nvPr/>
        </p:nvSpPr>
        <p:spPr>
          <a:xfrm>
            <a:off x="9326880" y="1901952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0E6E7E"/>
                </a:solidFill>
                <a:latin typeface="Cambria"/>
                <a:ea typeface="Cambria"/>
                <a:cs typeface="Cambria"/>
              </a:rPr>
              <a:t>3/3</a:t>
            </a:r>
            <a:endParaRPr sz="4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1F298B0-7A87-41F2-ACAD-E2CC1B421469}"/>
              </a:ext>
            </a:extLst>
          </p:cNvPr>
          <p:cNvSpPr>
            <a:spLocks noGrp="1"/>
          </p:cNvSpPr>
          <p:nvPr/>
        </p:nvSpPr>
        <p:spPr>
          <a:xfrm>
            <a:off x="9436608" y="2761488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B72"/>
                </a:solidFill>
                <a:latin typeface="Calibri"/>
                <a:ea typeface="Calibri"/>
                <a:cs typeface="Calibri"/>
              </a:rPr>
              <a:t>tool calls cached (offline)</a:t>
            </a:r>
            <a:endParaRPr sz="12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6715EA3-3227-493A-96D4-D6A3D9B6F46B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11091672" cy="2468880"/>
          </a:xfrm>
          <a:prstGeom prst="roundRect">
            <a:avLst>
              <a:gd name="adj" fmla="val 2963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51D076E-7AF9-4AFF-A443-FDD920D0C0D2}"/>
              </a:ext>
            </a:extLst>
          </p:cNvPr>
          <p:cNvSpPr>
            <a:spLocks noGrp="1"/>
          </p:cNvSpPr>
          <p:nvPr/>
        </p:nvSpPr>
        <p:spPr>
          <a:xfrm>
            <a:off x="822960" y="3840480"/>
            <a:ext cx="10515600" cy="210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5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Saved benchmark: one synthetic drug/event pair, 3 runs, local Mistral model.</a:t>
            </a:r>
            <a:endParaRPr sz="15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5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Baseline: 8 model calls, 1,851 tokens, 3 cached tool calls, 14 evidence records.</a:t>
            </a:r>
            <a:endParaRPr sz="15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5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The memo contains 26 material claims and all 14 sections. Citation and language checks pass.</a:t>
            </a:r>
            <a:endParaRPr sz="15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5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Memory is a process RSS reading. VRAM was not measured. Small sample, not a clinical benchmark.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736914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E4584F-DA5E-4F9F-853C-79C4E65DC195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DESIGN DECISIONS &amp; TRADEOFFS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A3835D-8916-4ED4-AD48-B9A9DA372976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What I chose, and the simpler thing I rejected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83DAA4-E7B8-4186-9844-68F1AC0829E1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E7FFB6-FFBB-4619-B0B7-57EEE26705CA}"/>
              </a:ext>
            </a:extLst>
          </p:cNvPr>
          <p:cNvSpPr>
            <a:spLocks noGrp="1"/>
          </p:cNvSpPr>
          <p:nvPr/>
        </p:nvSpPr>
        <p:spPr>
          <a:xfrm>
            <a:off x="777240" y="164592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One agent</a:t>
            </a:r>
            <a:endParaRPr sz="14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1ABC5F-8863-4C99-8848-B9CFACB13DB9}"/>
              </a:ext>
            </a:extLst>
          </p:cNvPr>
          <p:cNvSpPr>
            <a:spLocks noGrp="1"/>
          </p:cNvSpPr>
          <p:nvPr/>
        </p:nvSpPr>
        <p:spPr>
          <a:xfrm>
            <a:off x="3977640" y="1645920"/>
            <a:ext cx="75895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not retriever/analyst/writer</a:t>
            </a:r>
            <a:r>
              <a:rPr lang="en-US" sz="13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3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 no boundary earns the coordination cost or the agent-to-agent tokens</a:t>
            </a:r>
            <a:endParaRPr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B3F7C92-5FE8-4164-8A46-E1DD7C575E75}"/>
              </a:ext>
            </a:extLst>
          </p:cNvPr>
          <p:cNvSpPr>
            <a:spLocks noGrp="1"/>
          </p:cNvSpPr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D8ECE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5C9AE1-D320-4D57-AD3C-B71407979BC2}"/>
              </a:ext>
            </a:extLst>
          </p:cNvPr>
          <p:cNvSpPr>
            <a:spLocks noGrp="1"/>
          </p:cNvSpPr>
          <p:nvPr/>
        </p:nvSpPr>
        <p:spPr>
          <a:xfrm>
            <a:off x="777240" y="2542032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LangGraph</a:t>
            </a:r>
            <a:endParaRPr sz="14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7B1160B-D062-428A-A372-8A834B94F858}"/>
              </a:ext>
            </a:extLst>
          </p:cNvPr>
          <p:cNvSpPr>
            <a:spLocks noGrp="1"/>
          </p:cNvSpPr>
          <p:nvPr/>
        </p:nvSpPr>
        <p:spPr>
          <a:xfrm>
            <a:off x="3977640" y="2542032"/>
            <a:ext cx="75895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for a legible cyclic state machine</a:t>
            </a:r>
            <a:r>
              <a:rPr lang="en-US" sz="13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3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 honestly, a </a:t>
            </a:r>
            <a:r>
              <a:rPr lang="en-US" sz="13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~</a:t>
            </a:r>
            <a:r>
              <a:rPr sz="13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50-line custom loop would also do; it's the swappable dependency</a:t>
            </a:r>
            <a:endParaRPr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F592AEE-3F45-4C69-A298-02C522EF4612}"/>
              </a:ext>
            </a:extLst>
          </p:cNvPr>
          <p:cNvSpPr>
            <a:spLocks noGrp="1"/>
          </p:cNvSpPr>
          <p:nvPr/>
        </p:nvSpPr>
        <p:spPr>
          <a:xfrm>
            <a:off x="548640" y="3438144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2C2F7AB-0F41-4F78-815E-20F40E45BD7E}"/>
              </a:ext>
            </a:extLst>
          </p:cNvPr>
          <p:cNvSpPr>
            <a:spLocks noGrp="1"/>
          </p:cNvSpPr>
          <p:nvPr/>
        </p:nvSpPr>
        <p:spPr>
          <a:xfrm>
            <a:off x="777240" y="3438144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 dirty="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Deterministic validator</a:t>
            </a:r>
            <a:endParaRPr sz="14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BC08901-4345-47CF-AB38-B244F287570C}"/>
              </a:ext>
            </a:extLst>
          </p:cNvPr>
          <p:cNvSpPr>
            <a:spLocks noGrp="1"/>
          </p:cNvSpPr>
          <p:nvPr/>
        </p:nvSpPr>
        <p:spPr>
          <a:xfrm>
            <a:off x="3977640" y="3438144"/>
            <a:ext cx="75895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dirty="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explicit citation and language checks supplement the model prompt</a:t>
            </a:r>
            <a:endParaRPr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4E8E782-4C40-45C0-BB21-5A07CCD5FA69}"/>
              </a:ext>
            </a:extLst>
          </p:cNvPr>
          <p:cNvSpPr>
            <a:spLocks noGrp="1"/>
          </p:cNvSpPr>
          <p:nvPr/>
        </p:nvSpPr>
        <p:spPr>
          <a:xfrm>
            <a:off x="548640" y="4334256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D8ECEF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30E394E-8331-4E13-8CA7-9696B15CFA95}"/>
              </a:ext>
            </a:extLst>
          </p:cNvPr>
          <p:cNvSpPr>
            <a:spLocks noGrp="1"/>
          </p:cNvSpPr>
          <p:nvPr/>
        </p:nvSpPr>
        <p:spPr>
          <a:xfrm>
            <a:off x="777240" y="4334256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SQLite</a:t>
            </a:r>
            <a:endParaRPr sz="14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F001CA1-4FC1-4130-A9DC-6AE7A4B69CB8}"/>
              </a:ext>
            </a:extLst>
          </p:cNvPr>
          <p:cNvSpPr>
            <a:spLocks noGrp="1"/>
          </p:cNvSpPr>
          <p:nvPr/>
        </p:nvSpPr>
        <p:spPr>
          <a:xfrm>
            <a:off x="3977640" y="4334256"/>
            <a:ext cx="75895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transactions, persisted state, and database rules that prevent evidence edits</a:t>
            </a:r>
            <a:endParaRPr sz="13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5242A8B-19B0-4370-8C1F-752E99BD22E0}"/>
              </a:ext>
            </a:extLst>
          </p:cNvPr>
          <p:cNvSpPr>
            <a:spLocks noGrp="1"/>
          </p:cNvSpPr>
          <p:nvPr/>
        </p:nvSpPr>
        <p:spPr>
          <a:xfrm>
            <a:off x="548640" y="52303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9E2A4E6-2211-404F-8512-056FCFDA8D9F}"/>
              </a:ext>
            </a:extLst>
          </p:cNvPr>
          <p:cNvSpPr>
            <a:spLocks noGrp="1"/>
          </p:cNvSpPr>
          <p:nvPr/>
        </p:nvSpPr>
        <p:spPr>
          <a:xfrm>
            <a:off x="777240" y="5230368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Synthetic eval data + live investigate</a:t>
            </a:r>
            <a:endParaRPr sz="14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F510DFB-23CA-459C-B891-AB6AB0C1A97E}"/>
              </a:ext>
            </a:extLst>
          </p:cNvPr>
          <p:cNvSpPr>
            <a:spLocks noGrp="1"/>
          </p:cNvSpPr>
          <p:nvPr/>
        </p:nvSpPr>
        <p:spPr>
          <a:xfrm>
            <a:off x="3977640" y="5230368"/>
            <a:ext cx="75895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reproducible offline demo, real data on demand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677951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A63305-F2B3-4EA3-917F-5569DC5E197B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LIMITATIONS &amp; WHAT I DID NOT BUILD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E529A6-92BF-40BB-B717-44DD36CA0048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 dirty="0">
                <a:solidFill>
                  <a:srgbClr val="1F2A30"/>
                </a:solidFill>
                <a:latin typeface="Cambria"/>
                <a:ea typeface="Cambria"/>
                <a:cs typeface="Cambria"/>
              </a:rPr>
              <a:t>Current limits and next steps</a:t>
            </a:r>
            <a:endParaRPr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A8FB83D-8342-4F5D-BC0C-6126A65399B1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EEF4F5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2E8024-C8D6-4D5B-A32B-C1BEFE3F4D47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E6E7E"/>
                </a:solidFill>
                <a:latin typeface="Calibri"/>
                <a:ea typeface="Calibri"/>
                <a:cs typeface="Calibri"/>
              </a:rPr>
              <a:t>Known limits</a:t>
            </a:r>
            <a:endParaRPr sz="1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CA53405-03A8-4404-960F-30428E639DB9}"/>
              </a:ext>
            </a:extLst>
          </p:cNvPr>
          <p:cNvSpPr>
            <a:spLocks noGrp="1"/>
          </p:cNvSpPr>
          <p:nvPr/>
        </p:nvSpPr>
        <p:spPr>
          <a:xfrm>
            <a:off x="777240" y="2331720"/>
            <a:ext cx="5029200" cy="3474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FAERS returns one page of up to 100 reports.</a:t>
            </a:r>
            <a:endParaRPr sz="140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Normalized terms do not expand the live query.</a:t>
            </a:r>
            <a:endParaRPr sz="140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PubMed supplies metadata only. Review dates filter FAERS only.</a:t>
            </a:r>
            <a:endParaRPr sz="140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Duplicate and conflict checks use simple rules.</a:t>
            </a:r>
            <a:endParaRPr sz="140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Analysis can run early and miss later evidence.</a:t>
            </a:r>
            <a:endParaRPr sz="1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AFA467D-4AA3-4042-8A95-C989BF827641}"/>
              </a:ext>
            </a:extLst>
          </p:cNvPr>
          <p:cNvSpPr>
            <a:spLocks noGrp="1"/>
          </p:cNvSpPr>
          <p:nvPr/>
        </p:nvSpPr>
        <p:spPr>
          <a:xfrm>
            <a:off x="6263640" y="1645920"/>
            <a:ext cx="5376672" cy="4297680"/>
          </a:xfrm>
          <a:prstGeom prst="roundRect">
            <a:avLst>
              <a:gd name="adj" fmla="val 1702"/>
            </a:avLst>
          </a:prstGeom>
          <a:solidFill>
            <a:srgbClr val="FBF3E0"/>
          </a:solidFill>
          <a:effectLst>
            <a:outerShdw blurRad="76200" dist="25400" dir="5400000" algn="bl" rotWithShape="0">
              <a:srgbClr val="9AA9AD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946B00-5CDD-4106-B488-89B9FD997179}"/>
              </a:ext>
            </a:extLst>
          </p:cNvPr>
          <p:cNvSpPr>
            <a:spLocks noGrp="1"/>
          </p:cNvSpPr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C9880A"/>
                </a:solidFill>
                <a:latin typeface="Calibri"/>
                <a:ea typeface="Calibri"/>
                <a:cs typeface="Calibri"/>
              </a:rPr>
              <a:t>Open work</a:t>
            </a:r>
            <a:endParaRPr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7ECDFAE-CB2E-4F28-A043-BB71EF26EAAE}"/>
              </a:ext>
            </a:extLst>
          </p:cNvPr>
          <p:cNvSpPr>
            <a:spLocks noGrp="1"/>
          </p:cNvSpPr>
          <p:nvPr/>
        </p:nvSpPr>
        <p:spPr>
          <a:xfrm>
            <a:off x="6492240" y="2331720"/>
            <a:ext cx="4937760" cy="3474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No web UI, multi-user access, or authentication.</a:t>
            </a:r>
            <a:endParaRPr sz="140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No full graph resume through the CLI.</a:t>
            </a:r>
            <a:endParaRPr sz="140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Evaluation data is synthetic.</a:t>
            </a:r>
            <a:endParaRPr sz="140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Next: pagination, term expansion, and refresh analysis after new evidence.</a:t>
            </a:r>
            <a:endParaRPr sz="140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1F2A30"/>
                </a:solidFill>
                <a:latin typeface="Calibri"/>
                <a:ea typeface="Calibri"/>
                <a:cs typeface="Calibri"/>
              </a:rPr>
              <a:t>Verify label claims and update conflict findings after corrections.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95313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>
            <a:extLst>
              <a:ext uri="{FF2B5EF4-FFF2-40B4-BE49-F238E27FC236}">
                <a16:creationId xmlns:a16="http://schemas.microsoft.com/office/drawing/2014/main" id="{AA35061B-6726-647D-CED1-F5EB83D1388A}"/>
              </a:ext>
            </a:extLst>
          </p:cNvPr>
          <p:cNvSpPr>
            <a:spLocks noGrp="1"/>
          </p:cNvSpPr>
          <p:nvPr/>
        </p:nvSpPr>
        <p:spPr>
          <a:xfrm>
            <a:off x="548640" y="19659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0000"/>
              </a:lnSpc>
              <a:buNone/>
            </a:pPr>
            <a:r>
              <a:rPr sz="46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Drug Safety Signal</a:t>
            </a:r>
            <a:endParaRPr sz="4600" dirty="0"/>
          </a:p>
          <a:p>
            <a:pPr marL="0" indent="0">
              <a:lnSpc>
                <a:spcPct val="100000"/>
              </a:lnSpc>
              <a:buNone/>
            </a:pPr>
            <a:r>
              <a:rPr sz="46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Investigation Assistant</a:t>
            </a:r>
            <a:endParaRPr sz="4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59A0E-07C8-15E7-5748-B3702992C8EC}"/>
              </a:ext>
            </a:extLst>
          </p:cNvPr>
          <p:cNvSpPr txBox="1"/>
          <p:nvPr/>
        </p:nvSpPr>
        <p:spPr>
          <a:xfrm>
            <a:off x="457200" y="3898900"/>
            <a:ext cx="614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Turns public evidence into a traceable memo for human review.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19A9DB-9D03-FFC8-55CB-A34E09B9F580}"/>
              </a:ext>
            </a:extLst>
          </p:cNvPr>
          <p:cNvSpPr txBox="1"/>
          <p:nvPr/>
        </p:nvSpPr>
        <p:spPr>
          <a:xfrm>
            <a:off x="457200" y="5276850"/>
            <a:ext cx="1381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387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3451</Words>
  <Application>Microsoft Office PowerPoint</Application>
  <DocSecurity>0</DocSecurity>
  <PresentationFormat>Widescreen</PresentationFormat>
  <Paragraphs>385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Jash Bisai</cp:lastModifiedBy>
  <cp:revision>3</cp:revision>
  <dcterms:created xsi:type="dcterms:W3CDTF">2026-09-05T02:00:49Z</dcterms:created>
  <dcterms:modified xsi:type="dcterms:W3CDTF">2026-09-05T02:52:16Z</dcterms:modified>
</cp:coreProperties>
</file>